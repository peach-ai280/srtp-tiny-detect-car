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77" r:id="rId3"/>
    <p:sldId id="378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95" r:id="rId22"/>
    <p:sldId id="396" r:id="rId23"/>
    <p:sldId id="397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47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135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CB326D-D6FE-401C-B0F9-9894D72F7C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C40642-3370-4264-BB43-85B90726D1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各位老师好，我是计算机学院2026级的陶家宇。题目是系统里已经提交的那个，我今天讲三件事：为什么做、我们和别人不一样在哪、九个月能做出什么。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五个部分。前面两块是重点：为什么选这个题，创新点到底新在哪。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先说背景。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先看三个数。ST 官方在 H735 上跑 SSD-MobileNet，纯推理 105.8 毫秒；国内一个开源的 H743 复现做到端到端 240 毫秒，4 到 5 帧；ETH 那篇 TinyissimoYOLO 在 H7A3 上要 359 毫秒。三个数都在同一个量级：一百到三百毫秒。</a:t>
            </a:r>
          </a:p>
          <a:p>
            <a:r>
              <a:t>这意味着什么？车走 0.3 米每秒，240 毫秒就是 7.2 厘米，比物料盒还宽。所以我们不是要证明「能跑」，是要解决「跑得慢还不出事」。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我把现有工作分成三块。工具链早就齐了；模型压缩压到极限了，NanoDet 的 int8 版 980K，正好卡在 1M Flash 上；可不可靠这一块，云端很成熟，但落到单片机上才刚起步，而且大家做到「给一个分数」就停了，没人说这个分数该触发什么动作。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下面是我们想做的三个点。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三个点是一条线：先让模型知道自己这一帧不可靠，再决定要不要问别的传感器，最后在不确信的空档里用运动学把位置补上。第四项功耗温升是队友做的实测，不算创新点，但是证据。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第一个点，让模型自己说这一帧可不可信。我们只用四个推理过程中本来就有的量：top1 减 top2 的间隔、量化饱和率、帧间一致性，熵做对照组。</a:t>
            </a:r>
          </a:p>
          <a:p>
            <a:r>
              <a:t>我最看重第二个——量化饱和率，就是有多少激活被截到 int8 的边界上。这是量化模型独有的信号，浮点模型里没有，我查到的文献里没人拿它当检测任务的可信度判据。</a:t>
            </a:r>
          </a:p>
          <a:p>
            <a:r>
              <a:t>输出三档。请老师注意：这是假设，验证方法是画风险—覆盖率曲线，测出来没用我们会如实写。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第二个点。现在的做法不管视觉可不可信，每帧都融合、按权重平均——问题是视觉判断错的时候，超声的正确读数会被平均值一起带偏。</a:t>
            </a:r>
          </a:p>
          <a:p>
            <a:r>
              <a:t>我们反过来：超声平时睡觉，只有模型说不确定的时候才把它叫起来，对着框那个方位测三次，当第二个证人。</a:t>
            </a:r>
          </a:p>
          <a:p>
            <a:r>
              <a:t>代价是可能漏触发，所以右边这三件事必须验证，任何一条不成立这个点就废。</a:t>
            </a:r>
          </a:p>
          <a:p/>
          <a:p>
            <a:r>
              <a:t>【如果被问：从该刹车到真的刹住，一共多久？】</a:t>
            </a:r>
          </a:p>
          <a:p>
            <a:r>
              <a:t>全链路最坏 470 ms = 检测 240（模型本身耗时，省不掉）+ 复核 150（唤醒超声、测 3 次、串口往返）+ 底盘响应约 80。0.3 m/s 下位移 14 cm，比一个物料盒宽。</a:t>
            </a:r>
          </a:p>
          <a:p>
            <a:r>
              <a:t>这个数我们算过也认了——所以策略是「早一点慢下来」，不是「晚一点刹住」。</a:t>
            </a:r>
          </a:p>
          <a:p>
            <a:r>
              <a:t>不要试图把它说小。说小了，下一个问题就是「那你为什么还需要复核」。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第三个点。检测 4 帧，控制 100 赫兹。您看这条带子，每 240 毫秒才有一格是真的新数据，其余 23 次控制拿到的都是推演出来的位置。</a:t>
            </a:r>
          </a:p>
          <a:p>
            <a:r>
              <a:t>不补会怎样？等于给控制环加了一个固定相位滞后，车会画龙。</a:t>
            </a:r>
          </a:p>
          <a:p>
            <a:r>
              <a:t>我不敢说这是方法创新，高频惯性补低频视觉是成熟常识，我们的价值是把它在几十 KB 内存里做到能用，并且把收益量出来。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表是我最想给老师看的一页。前六行是「能跑」，早就有人做了；后两行是「知道不可靠」，但都停在拒识，而且基本是分类任务。右下角这一格——检测任务、三档、真正触发一个动作、在闭环里评价——是我们站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下面是具体怎么走。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六个里程碑，时间点跟系统里填报的一致。每一级都有明确的验收标准。尤其是 4 月 14 号端侧推理这一关，跑不通我们就砍掉第三个创新点保前两个——这条现在写清楚，免得到时候硬撑。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硬件这块说明一下：我们买的不是开发板，是核心板。选 H743 而不是更便宜的 H750，只有一个原因——H750 内部 Flash 只有 128K，而模型权重就要 277K，必须外挂 QSPI 还要改启动链路。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风险列了四条，重点看第三条：如果四个信号都没判别力，这个创新点就不成立。我们的处理是退回到帧间一致性为主，并且如实写进结题报告，不换说法圆回去。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第四块，成果。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成果四样：实物、源码、数据、文字。下面这两句我想提前说清楚：发明专利九个月内只能到受理，结题时我不会说已经授权；论文目标是中文期刊或本科生会议，不承诺 EI。把预期说低一点，比到时候解释要容易。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最后是人和分工。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四个人四块，都对着自己的专业。特别是徐熠冉这块——功耗温升不是顺便测一下，满负荷推理会让 H7 发热降频、电池掉压复位，这条包线直接决定车能连续跑多久。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文献都在这里面。第 2、3、4 条是给我最大支撑的三个数：MLPerf Tiny 说明基准只测精度延迟能耗，DORY 说明 H7 上 MobileNet-128 也就 4.3 帧，TinyissimoYOLO 给了 H7 上 359 毫秒这个数。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我的汇报到这里，请老师提问。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608" y="269988"/>
            <a:ext cx="2369808" cy="705776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387507" y="6373482"/>
            <a:ext cx="34534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chemeClr val="bg1">
                    <a:lumMod val="75000"/>
                  </a:schemeClr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耐劳苦 尚俭朴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zh-CN" altLang="en-US" sz="2000" b="0" i="0" dirty="0">
                <a:solidFill>
                  <a:schemeClr val="bg1">
                    <a:lumMod val="75000"/>
                  </a:schemeClr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勤学业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zh-CN" altLang="en-US" sz="2000" b="0" i="0" dirty="0">
                <a:solidFill>
                  <a:schemeClr val="bg1">
                    <a:lumMod val="75000"/>
                  </a:schemeClr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爱国家</a:t>
            </a:r>
            <a:endParaRPr lang="zh-CN" altLang="en-US" sz="2000" dirty="0">
              <a:solidFill>
                <a:schemeClr val="bg1">
                  <a:lumMod val="7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2.jpe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alphaModFix amt="2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12192000" cy="6872068"/>
          </a:xfrm>
          <a:prstGeom prst="rect">
            <a:avLst/>
          </a:prstGeom>
          <a:solidFill>
            <a:srgbClr val="0B47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14" y="-165865"/>
            <a:ext cx="7189729" cy="71897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165945" y="-758386"/>
            <a:ext cx="5786253" cy="5786253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68058" y="2605775"/>
            <a:ext cx="11855877" cy="2263385"/>
            <a:chOff x="168058" y="2605775"/>
            <a:chExt cx="11855877" cy="2263385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168058" y="2605775"/>
              <a:ext cx="11855877" cy="21236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sz="4400" b="1">
                  <a:solidFill>
                    <a:srgbClr val="FFFFFF"/>
                  </a:solidFill>
                  <a:latin typeface="微软雅黑" panose="020B0503020204020204" charset="-122"/>
                </a:rPr>
                <a:t>基于STM32的轻量化目标检测小车</a:t>
              </a:r>
              <a:endParaRPr kumimoji="0" lang="en-US" altLang="zh-CN" sz="6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sz="2800" b="1">
                  <a:solidFill>
                    <a:srgbClr val="FFFFFF"/>
                  </a:solidFill>
                  <a:latin typeface="微软雅黑" panose="020B0503020204020204" charset="-122"/>
                </a:rPr>
                <a:t>算力受限下的「可信感知」</a:t>
              </a:r>
              <a:endParaRPr sz="2800" b="1">
                <a:solidFill>
                  <a:srgbClr val="FFFFFF"/>
                </a:solidFill>
                <a:latin typeface="微软雅黑" panose="020B0503020204020204" charset="-122"/>
              </a:endParaRPr>
            </a:p>
            <a:p>
              <a:pPr algn="ctr"/>
              <a:r>
                <a:rPr sz="1900">
                  <a:solidFill>
                    <a:srgbClr val="CFDDF5"/>
                  </a:solidFill>
                  <a:latin typeface="微软雅黑" panose="020B0503020204020204" charset="-122"/>
                </a:rPr>
                <a:t>置信度分级  ·  定向复核  ·  帧间补位</a:t>
              </a:r>
              <a:endParaRPr sz="1900">
                <a:solidFill>
                  <a:srgbClr val="CFDDF5"/>
                </a:solidFill>
                <a:latin typeface="微软雅黑" panose="020B0503020204020204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1703512" y="4869160"/>
              <a:ext cx="8659688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921" y="1152915"/>
            <a:ext cx="3846786" cy="1145649"/>
          </a:xfrm>
          <a:prstGeom prst="rect">
            <a:avLst/>
          </a:prstGeom>
        </p:spPr>
      </p:pic>
      <p:sp>
        <p:nvSpPr>
          <p:cNvPr id="2" name="文本框 18"/>
          <p:cNvSpPr txBox="1">
            <a:spLocks noChangeArrowheads="1"/>
          </p:cNvSpPr>
          <p:nvPr/>
        </p:nvSpPr>
        <p:spPr bwMode="auto">
          <a:xfrm>
            <a:off x="4682788" y="5505030"/>
            <a:ext cx="28264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指导老师：刘  寄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3770216" y="5087709"/>
            <a:ext cx="45262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答辩人：陶家宇</a:t>
            </a: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，王紫怡，李海洋，</a:t>
            </a: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徐熠冉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12192000" cy="6912403"/>
          </a:xfrm>
          <a:prstGeom prst="rect">
            <a:avLst/>
          </a:prstGeom>
          <a:gradFill flip="none" rotWithShape="1">
            <a:gsLst>
              <a:gs pos="43000">
                <a:srgbClr val="0B47B3">
                  <a:alpha val="88000"/>
                </a:srgbClr>
              </a:gs>
              <a:gs pos="0">
                <a:srgbClr val="0B47B3">
                  <a:alpha val="95000"/>
                </a:srgbClr>
              </a:gs>
              <a:gs pos="100000">
                <a:srgbClr val="0B47B3"/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椭圆 4"/>
          <p:cNvSpPr/>
          <p:nvPr/>
        </p:nvSpPr>
        <p:spPr>
          <a:xfrm>
            <a:off x="-935644" y="-11216520"/>
            <a:ext cx="13681520" cy="13681520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804174" y="116632"/>
            <a:ext cx="2583652" cy="1355945"/>
            <a:chOff x="4804174" y="116632"/>
            <a:chExt cx="2583652" cy="1355945"/>
          </a:xfrm>
        </p:grpSpPr>
        <p:sp>
          <p:nvSpPr>
            <p:cNvPr id="7" name="文本框 6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/>
          </p:nvSpPr>
          <p:spPr bwMode="auto">
            <a:xfrm>
              <a:off x="4804174" y="1010912"/>
              <a:ext cx="2583652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865755" algn="l"/>
                </a:tabLst>
                <a:defRPr/>
              </a:pPr>
              <a:r>
                <a:rPr lang="en-US" altLang="zh-CN" sz="2400" b="1" kern="0" dirty="0">
                  <a:solidFill>
                    <a:srgbClr val="1C55C9"/>
                  </a:solidFill>
                  <a:latin typeface="Arial" panose="020B0604020202020204"/>
                  <a:ea typeface="微软雅黑" panose="020B0503020204020204" charset="-122"/>
                  <a:sym typeface="Calibri" panose="020F0502020204030204" pitchFamily="34" charset="0"/>
                </a:rPr>
                <a:t>CONTENTS</a:t>
              </a:r>
              <a:endParaRPr lang="en-US" altLang="zh-CN" sz="2400" b="1" kern="0" dirty="0">
                <a:solidFill>
                  <a:srgbClr val="1C55C9"/>
                </a:solidFill>
                <a:latin typeface="Arial" panose="020B0604020202020204"/>
                <a:ea typeface="微软雅黑" panose="020B0503020204020204" charset="-122"/>
                <a:sym typeface="Calibri" panose="020F0502020204030204" pitchFamily="34" charset="0"/>
              </a:endParaRPr>
            </a:p>
          </p:txBody>
        </p:sp>
        <p:sp>
          <p:nvSpPr>
  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/>
          </p:nvSpPr>
          <p:spPr bwMode="auto">
            <a:xfrm>
              <a:off x="4890870" y="116632"/>
              <a:ext cx="2410259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865755" algn="l"/>
                </a:tabLst>
                <a:defRPr/>
              </a:pPr>
              <a:r>
                <a:rPr lang="zh-CN" altLang="en-US" sz="5400" b="1" kern="0" dirty="0">
                  <a:solidFill>
                    <a:srgbClr val="1C55C9"/>
                  </a:solidFill>
                  <a:latin typeface="微软雅黑" panose="020B0503020204020204" charset="-122"/>
                  <a:ea typeface="微软雅黑" panose="020B0503020204020204" charset="-122"/>
                  <a:sym typeface="Calibri" panose="020F0502020204030204" pitchFamily="34" charset="0"/>
                </a:rPr>
                <a:t>目 录</a:t>
              </a:r>
              <a:endParaRPr lang="en-US" altLang="zh-CN" sz="5400" b="1" kern="0" dirty="0">
                <a:solidFill>
                  <a:srgbClr val="1C55C9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5245727" y="1010912"/>
              <a:ext cx="1699856" cy="0"/>
            </a:xfrm>
            <a:prstGeom prst="line">
              <a:avLst/>
            </a:prstGeom>
            <a:noFill/>
            <a:ln w="38100" cap="flat" cmpd="sng" algn="ctr">
              <a:solidFill>
                <a:srgbClr val="1C55C9"/>
              </a:solidFill>
              <a:prstDash val="solid"/>
            </a:ln>
            <a:effectLst/>
          </p:spPr>
        </p:cxnSp>
      </p:grpSp>
      <p:grpSp>
        <p:nvGrpSpPr>
          <p:cNvPr id="10" name="组合 9"/>
          <p:cNvGrpSpPr/>
          <p:nvPr/>
        </p:nvGrpSpPr>
        <p:grpSpPr>
          <a:xfrm>
            <a:off x="1115530" y="2564904"/>
            <a:ext cx="10309062" cy="3146107"/>
            <a:chOff x="1055440" y="2996952"/>
            <a:chExt cx="10309062" cy="3146107"/>
          </a:xfrm>
        </p:grpSpPr>
        <p:grpSp>
          <p:nvGrpSpPr>
            <p:cNvPr id="11" name="组合 10"/>
            <p:cNvGrpSpPr/>
            <p:nvPr/>
          </p:nvGrpSpPr>
          <p:grpSpPr>
            <a:xfrm>
              <a:off x="1055440" y="2996952"/>
              <a:ext cx="10309062" cy="3146107"/>
              <a:chOff x="1055440" y="2996952"/>
              <a:chExt cx="10309062" cy="3146107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1055440" y="2996952"/>
                <a:ext cx="4143251" cy="884773"/>
                <a:chOff x="856120" y="2669246"/>
                <a:chExt cx="4143251" cy="884773"/>
              </a:xfrm>
            </p:grpSpPr>
            <p:sp>
              <p:nvSpPr>
                <p:cNvPr id="32" name="文本框 6"/>
                <p:cNvSpPr txBox="1">
                  <a:spLocks noChangeArrowheads="1"/>
                </p:cNvSpPr>
                <p:nvPr/>
              </p:nvSpPr>
              <p:spPr bwMode="auto">
                <a:xfrm>
                  <a:off x="1705521" y="2669246"/>
                  <a:ext cx="2698175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1pPr>
                  <a:lvl2pPr marL="742950" indent="-28575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2pPr>
                  <a:lvl3pPr marL="11430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3pPr>
                  <a:lvl4pPr marL="16002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4pPr>
                  <a:lvl5pPr marL="20574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5pPr>
                  <a:lvl6pPr marL="25146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6pPr>
                  <a:lvl7pPr marL="29718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7pPr>
                  <a:lvl8pPr marL="34290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8pPr>
                  <a:lvl9pPr marL="38862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9pPr>
                </a:lstStyle>
                <a:p>
                  <a:pPr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sz="2000" b="1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选题依据</a:t>
                  </a:r>
                  <a:endParaRPr sz="2000" b="1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1705521" y="3184687"/>
                  <a:ext cx="329385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sz="850" b="0">
                      <a:solidFill>
                        <a:srgbClr val="ADC3E6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WHY THIS TOPIC</a:t>
                  </a:r>
                  <a:endParaRPr sz="850" b="0">
                    <a:solidFill>
                      <a:srgbClr val="ADC3E6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34" name="椭圆 33"/>
                <p:cNvSpPr/>
                <p:nvPr/>
              </p:nvSpPr>
              <p:spPr>
                <a:xfrm>
                  <a:off x="856120" y="2700642"/>
                  <a:ext cx="722490" cy="72249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023FA1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noAutofit/>
                </a:bodyPr>
                <a:lstStyle/>
                <a:p>
                  <a:pPr algn="ctr" defTabSz="914400">
                    <a:defRPr/>
                  </a:pPr>
                  <a:r>
                    <a:rPr lang="en-US" altLang="zh-CN" sz="3200" b="1" kern="0" dirty="0">
                      <a:solidFill>
                        <a:srgbClr val="1C55C9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1</a:t>
                  </a:r>
                  <a:endParaRPr lang="zh-CN" altLang="en-US" sz="3200" b="1" kern="0" dirty="0">
                    <a:solidFill>
                      <a:srgbClr val="1C55C9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6" name="组合 15"/>
              <p:cNvGrpSpPr/>
              <p:nvPr/>
            </p:nvGrpSpPr>
            <p:grpSpPr>
              <a:xfrm>
                <a:off x="1055440" y="4106650"/>
                <a:ext cx="4081138" cy="845400"/>
                <a:chOff x="856120" y="2669246"/>
                <a:chExt cx="4081138" cy="845400"/>
              </a:xfrm>
            </p:grpSpPr>
            <p:sp>
              <p:nvSpPr>
                <p:cNvPr id="29" name="文本框 6"/>
                <p:cNvSpPr txBox="1">
                  <a:spLocks noChangeArrowheads="1"/>
                </p:cNvSpPr>
                <p:nvPr/>
              </p:nvSpPr>
              <p:spPr bwMode="auto">
                <a:xfrm>
                  <a:off x="1705521" y="2669246"/>
                  <a:ext cx="2805576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1pPr>
                  <a:lvl2pPr marL="742950" indent="-28575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2pPr>
                  <a:lvl3pPr marL="11430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3pPr>
                  <a:lvl4pPr marL="16002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4pPr>
                  <a:lvl5pPr marL="20574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5pPr>
                  <a:lvl6pPr marL="25146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6pPr>
                  <a:lvl7pPr marL="29718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7pPr>
                  <a:lvl8pPr marL="34290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8pPr>
                  <a:lvl9pPr marL="38862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9pPr>
                </a:lstStyle>
                <a:p>
                  <a:pPr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sz="2000" b="1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创新点</a:t>
                  </a:r>
                  <a:endParaRPr sz="2000" b="1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>
                  <a:off x="1643408" y="3145314"/>
                  <a:ext cx="329385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sz="850" b="0">
                      <a:solidFill>
                        <a:srgbClr val="ADC3E6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WHAT IS NEW</a:t>
                  </a:r>
                  <a:endParaRPr sz="850" b="0">
                    <a:solidFill>
                      <a:srgbClr val="ADC3E6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31" name="椭圆 30"/>
                <p:cNvSpPr/>
                <p:nvPr/>
              </p:nvSpPr>
              <p:spPr>
                <a:xfrm>
                  <a:off x="856120" y="2700642"/>
                  <a:ext cx="722490" cy="72249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023FA1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noAutofit/>
                </a:bodyPr>
                <a:lstStyle/>
                <a:p>
                  <a:pPr algn="ctr" defTabSz="914400">
                    <a:defRPr/>
                  </a:pPr>
                  <a:r>
                    <a:rPr lang="en-US" altLang="zh-CN" sz="3200" b="1" kern="0" dirty="0">
                      <a:solidFill>
                        <a:srgbClr val="1C55C9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2</a:t>
                  </a:r>
                  <a:endParaRPr lang="zh-CN" altLang="en-US" sz="3200" b="1" kern="0" dirty="0">
                    <a:solidFill>
                      <a:srgbClr val="1C55C9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1055440" y="5274230"/>
                <a:ext cx="4081138" cy="868829"/>
                <a:chOff x="856120" y="2669246"/>
                <a:chExt cx="4081138" cy="868829"/>
              </a:xfrm>
            </p:grpSpPr>
            <p:sp>
              <p:nvSpPr>
                <p:cNvPr id="26" name="文本框 6"/>
                <p:cNvSpPr txBox="1">
                  <a:spLocks noChangeArrowheads="1"/>
                </p:cNvSpPr>
                <p:nvPr/>
              </p:nvSpPr>
              <p:spPr bwMode="auto">
                <a:xfrm>
                  <a:off x="1705521" y="2669246"/>
                  <a:ext cx="2698175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1pPr>
                  <a:lvl2pPr marL="742950" indent="-28575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2pPr>
                  <a:lvl3pPr marL="11430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3pPr>
                  <a:lvl4pPr marL="16002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4pPr>
                  <a:lvl5pPr marL="20574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5pPr>
                  <a:lvl6pPr marL="25146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6pPr>
                  <a:lvl7pPr marL="29718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7pPr>
                  <a:lvl8pPr marL="34290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8pPr>
                  <a:lvl9pPr marL="38862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9pPr>
                </a:lstStyle>
                <a:p>
                  <a:pPr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sz="2000" b="1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技术路线</a:t>
                  </a:r>
                  <a:endParaRPr sz="2000" b="1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1643408" y="3168743"/>
                  <a:ext cx="329385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sz="850" b="0">
                      <a:solidFill>
                        <a:srgbClr val="ADC3E6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HOW WE BUILD</a:t>
                  </a:r>
                  <a:endParaRPr sz="850" b="0">
                    <a:solidFill>
                      <a:srgbClr val="ADC3E6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856120" y="2700642"/>
                  <a:ext cx="722490" cy="72249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023FA1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noAutofit/>
                </a:bodyPr>
                <a:lstStyle/>
                <a:p>
                  <a:pPr algn="ctr" defTabSz="914400">
                    <a:defRPr/>
                  </a:pPr>
                  <a:r>
                    <a:rPr lang="en-US" altLang="zh-CN" sz="3200" b="1" kern="0" dirty="0">
                      <a:solidFill>
                        <a:srgbClr val="1C55C9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3</a:t>
                  </a:r>
                  <a:endParaRPr lang="zh-CN" altLang="en-US" sz="3200" b="1" kern="0" dirty="0">
                    <a:solidFill>
                      <a:srgbClr val="1C55C9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7176120" y="2996952"/>
                <a:ext cx="4188382" cy="875751"/>
                <a:chOff x="812733" y="2669246"/>
                <a:chExt cx="4188382" cy="875751"/>
              </a:xfrm>
            </p:grpSpPr>
            <p:sp>
              <p:nvSpPr>
                <p:cNvPr id="23" name="文本框 6"/>
                <p:cNvSpPr txBox="1">
                  <a:spLocks noChangeArrowheads="1"/>
                </p:cNvSpPr>
                <p:nvPr/>
              </p:nvSpPr>
              <p:spPr bwMode="auto">
                <a:xfrm>
                  <a:off x="1662134" y="2669246"/>
                  <a:ext cx="2698175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1pPr>
                  <a:lvl2pPr marL="742950" indent="-28575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2pPr>
                  <a:lvl3pPr marL="11430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3pPr>
                  <a:lvl4pPr marL="16002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4pPr>
                  <a:lvl5pPr marL="20574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5pPr>
                  <a:lvl6pPr marL="25146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6pPr>
                  <a:lvl7pPr marL="29718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7pPr>
                  <a:lvl8pPr marL="34290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8pPr>
                  <a:lvl9pPr marL="38862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9pPr>
                </a:lstStyle>
                <a:p>
                  <a:pPr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sz="2000" b="1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预期成果</a:t>
                  </a:r>
                  <a:endParaRPr sz="2000" b="1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1707265" y="3175665"/>
                  <a:ext cx="329385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sz="850" b="0">
                      <a:solidFill>
                        <a:srgbClr val="ADC3E6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WHAT WE GET</a:t>
                  </a:r>
                  <a:endParaRPr sz="850" b="0">
                    <a:solidFill>
                      <a:srgbClr val="ADC3E6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5" name="椭圆 24"/>
                <p:cNvSpPr/>
                <p:nvPr/>
              </p:nvSpPr>
              <p:spPr>
                <a:xfrm>
                  <a:off x="812733" y="2700642"/>
                  <a:ext cx="722490" cy="72249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023FA1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noAutofit/>
                </a:bodyPr>
                <a:lstStyle/>
                <a:p>
                  <a:pPr algn="ctr" defTabSz="914400">
                    <a:defRPr/>
                  </a:pPr>
                  <a:r>
                    <a:rPr lang="en-US" altLang="zh-CN" sz="3200" b="1" kern="0" dirty="0">
                      <a:solidFill>
                        <a:srgbClr val="1C55C9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4</a:t>
                  </a:r>
                  <a:endParaRPr lang="zh-CN" altLang="en-US" sz="3200" b="1" kern="0" dirty="0">
                    <a:solidFill>
                      <a:srgbClr val="1C55C9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7176277" y="4164081"/>
                <a:ext cx="4143680" cy="858950"/>
                <a:chOff x="812733" y="2669246"/>
                <a:chExt cx="4143680" cy="858950"/>
              </a:xfrm>
            </p:grpSpPr>
            <p:sp>
              <p:nvSpPr>
                <p:cNvPr id="20" name="文本框 6"/>
                <p:cNvSpPr txBox="1">
                  <a:spLocks noChangeArrowheads="1"/>
                </p:cNvSpPr>
                <p:nvPr/>
              </p:nvSpPr>
              <p:spPr bwMode="auto">
                <a:xfrm>
                  <a:off x="1662134" y="2669246"/>
                  <a:ext cx="2698175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1pPr>
                  <a:lvl2pPr marL="742950" indent="-28575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2pPr>
                  <a:lvl3pPr marL="11430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3pPr>
                  <a:lvl4pPr marL="16002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4pPr>
                  <a:lvl5pPr marL="2057400" indent="-228600"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5pPr>
                  <a:lvl6pPr marL="25146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6pPr>
                  <a:lvl7pPr marL="29718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7pPr>
                  <a:lvl8pPr marL="34290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8pPr>
                  <a:lvl9pPr marL="3886200" indent="-228600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300">
                      <a:solidFill>
                        <a:schemeClr val="tx1"/>
                      </a:solidFill>
                      <a:latin typeface="Calibri Light" panose="020F0302020204030204" pitchFamily="34" charset="0"/>
                      <a:ea typeface="方正宋刻本秀楷简体" panose="02000000000000000000" pitchFamily="2" charset="-122"/>
                    </a:defRPr>
                  </a:lvl9pPr>
                </a:lstStyle>
                <a:p>
                  <a:pPr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sz="2000" b="1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团队分工</a:t>
                  </a:r>
                  <a:endParaRPr sz="2000" b="1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1" name="矩形 20"/>
                <p:cNvSpPr/>
                <p:nvPr/>
              </p:nvSpPr>
              <p:spPr>
                <a:xfrm>
                  <a:off x="1662563" y="3158864"/>
                  <a:ext cx="329385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91440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sz="850" b="0">
                      <a:solidFill>
                        <a:srgbClr val="ADC3E6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WHO DOES WHAT</a:t>
                  </a:r>
                  <a:endParaRPr sz="850" b="0">
                    <a:solidFill>
                      <a:srgbClr val="ADC3E6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2" name="椭圆 21"/>
                <p:cNvSpPr/>
                <p:nvPr/>
              </p:nvSpPr>
              <p:spPr>
                <a:xfrm>
                  <a:off x="812733" y="2700642"/>
                  <a:ext cx="722490" cy="72249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023FA1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noAutofit/>
                </a:bodyPr>
                <a:lstStyle/>
                <a:p>
                  <a:pPr algn="ctr" defTabSz="914400">
                    <a:defRPr/>
                  </a:pPr>
                  <a:r>
                    <a:rPr lang="en-US" altLang="zh-CN" sz="3200" b="1" kern="0" dirty="0">
                      <a:solidFill>
                        <a:srgbClr val="1C55C9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5</a:t>
                  </a:r>
                  <a:endParaRPr lang="zh-CN" altLang="en-US" sz="3200" b="1" kern="0" dirty="0">
                    <a:solidFill>
                      <a:srgbClr val="1C55C9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12" name="文本框 6"/>
            <p:cNvSpPr txBox="1">
              <a:spLocks noChangeArrowheads="1"/>
            </p:cNvSpPr>
            <p:nvPr/>
          </p:nvSpPr>
          <p:spPr bwMode="auto">
            <a:xfrm>
              <a:off x="8025092" y="5221552"/>
              <a:ext cx="26981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sz="20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参考文献</a:t>
              </a:r>
              <a:endPara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8025521" y="5711170"/>
              <a:ext cx="3293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sz="850" b="0">
                  <a:solidFill>
                    <a:srgbClr val="ADC3E6"/>
                  </a:solidFill>
                  <a:latin typeface="微软雅黑" panose="020B0503020204020204" charset="-122"/>
                  <a:ea typeface="微软雅黑" panose="020B0503020204020204" charset="-122"/>
                </a:rPr>
                <a:t>REFERENCES</a:t>
              </a:r>
              <a:endParaRPr sz="850" b="0">
                <a:solidFill>
                  <a:srgbClr val="ADC3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7175691" y="5252948"/>
              <a:ext cx="722490" cy="72249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023FA1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 defTabSz="914400">
                <a:defRPr/>
              </a:pPr>
              <a:r>
                <a:rPr lang="en-US" altLang="zh-CN" sz="3200" b="1" kern="0" dirty="0">
                  <a:solidFill>
                    <a:srgbClr val="1C55C9"/>
                  </a:solidFill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endParaRPr lang="zh-CN" altLang="en-US" sz="3200" b="1" kern="0" dirty="0">
                <a:solidFill>
                  <a:srgbClr val="1C55C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12192000" cy="6912403"/>
          </a:xfrm>
          <a:prstGeom prst="rect">
            <a:avLst/>
          </a:prstGeom>
          <a:gradFill flip="none" rotWithShape="1">
            <a:gsLst>
              <a:gs pos="100000">
                <a:srgbClr val="0B47B3">
                  <a:alpha val="70000"/>
                </a:srgbClr>
              </a:gs>
              <a:gs pos="0">
                <a:srgbClr val="0B47B3">
                  <a:alpha val="95000"/>
                </a:srgbClr>
              </a:gs>
              <a:gs pos="69000">
                <a:srgbClr val="0B47B3"/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95219" y="1224329"/>
            <a:ext cx="5328592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700" dirty="0">
                <a:solidFill>
                  <a:prstClr val="white"/>
                </a:solidFill>
                <a:latin typeface="Arial Black" panose="020B0A04020102020204" pitchFamily="34" charset="0"/>
              </a:rPr>
              <a:t>01</a:t>
            </a:r>
            <a:endParaRPr lang="zh-CN" altLang="en-US" sz="28700" dirty="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6079784" y="2062596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选题依据</a:t>
            </a:r>
            <a:endParaRPr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6255757" y="3143336"/>
            <a:ext cx="3594498" cy="0"/>
          </a:xfrm>
          <a:prstGeom prst="lin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8" name="标题 4"/>
          <p:cNvSpPr txBox="1"/>
          <p:nvPr/>
        </p:nvSpPr>
        <p:spPr>
          <a:xfrm>
            <a:off x="6225638" y="3862063"/>
            <a:ext cx="4754488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从「能不能在 MCU 上跑检测」，
到「跑不准的时候怎么办」</a:t>
            </a:r>
            <a:endParaRPr sz="2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4244" y="5524140"/>
            <a:ext cx="29971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chemeClr val="bg1"/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耐劳苦，尚俭朴，勤学业，爱国家。</a:t>
            </a:r>
            <a:endParaRPr lang="zh-CN" altLang="en-US" sz="28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079" y="273779"/>
            <a:ext cx="2332026" cy="7359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4904"/>
            <a:ext cx="548640" cy="795528"/>
          </a:xfrm>
          <a:prstGeom prst="rect">
            <a:avLst/>
          </a:prstGeom>
          <a:solidFill>
            <a:srgbClr val="0B4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47B3"/>
                </a:solidFill>
                <a:latin typeface="微软雅黑" panose="020B0503020204020204" charset="-122"/>
                <a:ea typeface="微软雅黑" panose="020B0503020204020204" charset="-122"/>
              </a:rPr>
              <a:t>一帧的代价</a:t>
            </a:r>
            <a:endParaRPr sz="3000" b="1">
              <a:solidFill>
                <a:srgbClr val="0B47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941832"/>
            <a:ext cx="2176272" cy="0"/>
          </a:xfrm>
          <a:prstGeom prst="line">
            <a:avLst/>
          </a:prstGeom>
          <a:ln w="13970">
            <a:solidFill>
              <a:srgbClr val="0B47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76656" y="100584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THE COST OF ONE FRAME  ·  105 / 240 / 359 ms —— 差多少不重要，都太慢</a:t>
            </a:r>
            <a:endParaRPr sz="85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63367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04 / 21</a:t>
            </a:r>
            <a:endParaRPr sz="100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358444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36192"/>
            <a:ext cx="3584448" cy="54864"/>
          </a:xfrm>
          <a:prstGeom prst="rect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55648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厂商实测</a:t>
            </a:r>
            <a:endParaRPr sz="110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202996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105.8</a:t>
            </a:r>
            <a:endParaRPr sz="42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66644" y="23408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ms</a:t>
            </a:r>
            <a:endParaRPr sz="14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2" y="2798064"/>
            <a:ext cx="31272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STM32H735 @550 MHz</a:t>
            </a:r>
            <a:endParaRPr sz="10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SSD-MobileNetV1-0.25</a:t>
            </a:r>
            <a:endParaRPr sz="10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192×192，INT8，纯推理</a:t>
            </a:r>
            <a:endParaRPr sz="10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07408" y="1536192"/>
            <a:ext cx="358444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536192"/>
            <a:ext cx="3584448" cy="54864"/>
          </a:xfrm>
          <a:prstGeom prst="rect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755648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开源复现</a:t>
            </a:r>
            <a:endParaRPr sz="110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45152" y="202996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240</a:t>
            </a:r>
            <a:endParaRPr sz="42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11596" y="23408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ms</a:t>
            </a:r>
            <a:endParaRPr sz="14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45152" y="2798064"/>
            <a:ext cx="31272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STM32H743 + OV5640</a:t>
            </a:r>
            <a:endParaRPr sz="10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mAP 31.8%，约 4–5 FPS</a:t>
            </a:r>
            <a:endParaRPr sz="10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推理本体约 235 ms</a:t>
            </a:r>
            <a:endParaRPr sz="10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47888" y="1536192"/>
            <a:ext cx="358444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47888" y="1536192"/>
            <a:ext cx="3584448" cy="54864"/>
          </a:xfrm>
          <a:prstGeom prst="rect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1755648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论文实测</a:t>
            </a:r>
            <a:endParaRPr sz="110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85632" y="2029968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359</a:t>
            </a:r>
            <a:endParaRPr sz="42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752076" y="23408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ms</a:t>
            </a:r>
            <a:endParaRPr sz="14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85632" y="2798064"/>
            <a:ext cx="31272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STM32H7A3 @192 MHz</a:t>
            </a:r>
            <a:endParaRPr sz="10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TinyissimoYOLO 最小检测网</a:t>
            </a:r>
            <a:endParaRPr sz="10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IEEE Access 2024</a:t>
            </a:r>
            <a:endParaRPr sz="10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66928" y="3858768"/>
            <a:ext cx="11064240" cy="932688"/>
          </a:xfrm>
          <a:prstGeom prst="rect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3986784"/>
            <a:ext cx="42062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0.3 m/s × 240 ms = 7.2 cm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68112" y="3986784"/>
            <a:ext cx="59436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车以 0.3 m/s 行进时，一帧检测的 240 ms 里车身已前移 7.2 cm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——比一个物料盒（约 5 cm）还宽。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6928" y="5029200"/>
            <a:ext cx="11064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所以真正的问题不是「MCU 能不能跑目标检测」——能，三个来源都证明了。</a:t>
            </a:r>
            <a:endParaRPr sz="15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5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问题是：在 4 FPS 的感知下，一台会动的车怎么才不出事。</a:t>
            </a:r>
            <a:endParaRPr sz="15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4904"/>
            <a:ext cx="548640" cy="795528"/>
          </a:xfrm>
          <a:prstGeom prst="rect">
            <a:avLst/>
          </a:prstGeom>
          <a:solidFill>
            <a:srgbClr val="0B4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47B3"/>
                </a:solidFill>
                <a:latin typeface="微软雅黑" panose="020B0503020204020204" charset="-122"/>
                <a:ea typeface="微软雅黑" panose="020B0503020204020204" charset="-122"/>
              </a:rPr>
              <a:t>已有工作的三条边界</a:t>
            </a:r>
            <a:endParaRPr sz="3000" b="1">
              <a:solidFill>
                <a:srgbClr val="0B47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941832"/>
            <a:ext cx="3785615" cy="0"/>
          </a:xfrm>
          <a:prstGeom prst="line">
            <a:avLst/>
          </a:prstGeom>
          <a:ln w="13970">
            <a:solidFill>
              <a:srgbClr val="0B47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76656" y="100584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THREE BOUNDARIES  ·  我们该在哪里做贡献</a:t>
            </a:r>
            <a:endParaRPr sz="85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63367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05 / 21</a:t>
            </a:r>
            <a:endParaRPr sz="100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1517904"/>
            <a:ext cx="11064240" cy="1207008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64008" cy="1207008"/>
          </a:xfrm>
          <a:prstGeom prst="rect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627631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5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25880" y="1609344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工具链：已经不缺</a:t>
            </a:r>
            <a:endParaRPr sz="15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60520" y="1636776"/>
            <a:ext cx="4133087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Cube.AI、TFLite Micro、CMSIS-NN、DORY、MicroNets —— 从训练到部署的自动链路是齐的。CMSIS-NN 相比朴素实现吞吐 4.6×、能效 4.9×。</a:t>
            </a:r>
            <a:endParaRPr sz="10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85632" y="1636776"/>
            <a:ext cx="301752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部署本身不再是问题，</a:t>
            </a:r>
            <a:endParaRPr sz="1050" b="1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我们不在这条线上做贡献。</a:t>
            </a:r>
            <a:endParaRPr sz="1050" b="1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928" y="2834639"/>
            <a:ext cx="11064240" cy="1207008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834639"/>
            <a:ext cx="64008" cy="1207008"/>
          </a:xfrm>
          <a:prstGeom prst="rect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944368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5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25880" y="2926079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模型：已经压到极限</a:t>
            </a:r>
            <a:endParaRPr sz="15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60520" y="2953511"/>
            <a:ext cx="4133087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TinyissimoYOLO 把检测网压到百万参数以内；NanoDet-Plus 的 int8 版本 980 KB，已经贴着 1 MB Flash 走。</a:t>
            </a:r>
            <a:endParaRPr sz="10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85632" y="2953511"/>
            <a:ext cx="301752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9 个月、大一团队去改</a:t>
            </a:r>
            <a:endParaRPr sz="1050" b="1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网络结构，投入产出比不成立。</a:t>
            </a:r>
            <a:endParaRPr sz="1050" b="1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6928" y="4151375"/>
            <a:ext cx="11064240" cy="1207008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151375"/>
            <a:ext cx="64008" cy="1207008"/>
          </a:xfrm>
          <a:prstGeom prst="rect">
            <a:avLst/>
          </a:prstGeom>
          <a:solidFill>
            <a:srgbClr val="E8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261103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A81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500" b="1">
              <a:solidFill>
                <a:srgbClr val="E8A8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25880" y="4242815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可靠性：才刚起步</a:t>
            </a:r>
            <a:endParaRPr sz="15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60520" y="4270247"/>
            <a:ext cx="4133087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「模型知道自己不确定」云端已成熟（2017 起）。MCU 上已有 QUTE、TCUQ（2025）、TrustTiny-HAR（2026）三代，但都停在「给分数、做拒识」。2026 年出现了「弃权后去取证」——Co-GLANCE 派另一台机器人，BCEA 让模型回看图像。</a:t>
            </a:r>
            <a:endParaRPr sz="10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85632" y="4270247"/>
            <a:ext cx="301752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前沿已走到「取证」，</a:t>
            </a:r>
            <a:endParaRPr sz="105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但不在这一档芯片上。</a:t>
            </a:r>
            <a:endParaRPr sz="105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66928" y="5760720"/>
            <a:ext cx="11064240" cy="493776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5760720"/>
            <a:ext cx="64008" cy="493776"/>
          </a:xfrm>
          <a:prstGeom prst="rect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3387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缺的不在前两条。分数有了、该去取证也有了，缺的是最后一公里：车该做什么？</a:t>
            </a:r>
            <a:endParaRPr sz="135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12192000" cy="6912403"/>
          </a:xfrm>
          <a:prstGeom prst="rect">
            <a:avLst/>
          </a:prstGeom>
          <a:gradFill flip="none" rotWithShape="1">
            <a:gsLst>
              <a:gs pos="100000">
                <a:srgbClr val="0B47B3">
                  <a:alpha val="70000"/>
                </a:srgbClr>
              </a:gs>
              <a:gs pos="0">
                <a:srgbClr val="0B47B3">
                  <a:alpha val="95000"/>
                </a:srgbClr>
              </a:gs>
              <a:gs pos="69000">
                <a:srgbClr val="0B47B3"/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95219" y="1224329"/>
            <a:ext cx="5328592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700" dirty="0">
                <a:solidFill>
                  <a:prstClr val="white"/>
                </a:solidFill>
                <a:latin typeface="Arial Black" panose="020B0A04020102020204" pitchFamily="34" charset="0"/>
              </a:rPr>
              <a:t>02</a:t>
            </a:r>
            <a:endParaRPr lang="zh-CN" altLang="en-US" sz="28700" dirty="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6079784" y="2062596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创新点</a:t>
            </a:r>
            <a:endParaRPr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6255757" y="3143336"/>
            <a:ext cx="3594498" cy="0"/>
          </a:xfrm>
          <a:prstGeom prst="lin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8" name="标题 4"/>
          <p:cNvSpPr txBox="1"/>
          <p:nvPr/>
        </p:nvSpPr>
        <p:spPr>
          <a:xfrm>
            <a:off x="6225638" y="3862063"/>
            <a:ext cx="4754488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三个点，都落在「感知不可靠」这一侧
不改网络结构，不加第二块芯片</a:t>
            </a:r>
            <a:endParaRPr sz="2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84244" y="5524140"/>
            <a:ext cx="29971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chemeClr val="bg1"/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耐劳苦，尚俭朴，勤学业，爱国家。</a:t>
            </a:r>
            <a:endParaRPr lang="zh-CN" altLang="en-US" sz="28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079" y="273779"/>
            <a:ext cx="2332026" cy="7359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4904"/>
            <a:ext cx="548640" cy="795528"/>
          </a:xfrm>
          <a:prstGeom prst="rect">
            <a:avLst/>
          </a:prstGeom>
          <a:solidFill>
            <a:srgbClr val="0B4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47B3"/>
                </a:solidFill>
                <a:latin typeface="微软雅黑" panose="020B0503020204020204" charset="-122"/>
                <a:ea typeface="微软雅黑" panose="020B0503020204020204" charset="-122"/>
              </a:rPr>
              <a:t>三个创新点</a:t>
            </a:r>
            <a:endParaRPr sz="3000" b="1">
              <a:solidFill>
                <a:srgbClr val="0B47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941832"/>
            <a:ext cx="2176272" cy="0"/>
          </a:xfrm>
          <a:prstGeom prst="line">
            <a:avLst/>
          </a:prstGeom>
          <a:ln w="13970">
            <a:solidFill>
              <a:srgbClr val="0B47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76656" y="100584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THREE IDEAS  ·  一条系统主张，三个可验收的环节</a:t>
            </a:r>
            <a:endParaRPr sz="85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63367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07 / 21</a:t>
            </a:r>
            <a:endParaRPr sz="100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1517904"/>
            <a:ext cx="3593592" cy="2980944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7" y="1719072"/>
            <a:ext cx="457200" cy="457200"/>
          </a:xfrm>
          <a:prstGeom prst="ellipse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①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7" y="2322576"/>
            <a:ext cx="3026664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让模型说出</a:t>
            </a:r>
            <a:endParaRPr sz="16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6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这一帧靠不靠得住</a:t>
            </a:r>
            <a:endParaRPr sz="16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7" y="3145536"/>
            <a:ext cx="3026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8A81C"/>
                </a:solidFill>
                <a:latin typeface="微软雅黑" panose="020B0503020204020204" charset="-122"/>
                <a:ea typeface="微软雅黑" panose="020B0503020204020204" charset="-122"/>
              </a:rPr>
              <a:t>帧级错误指示器</a:t>
            </a:r>
            <a:endParaRPr sz="1050" b="1">
              <a:solidFill>
                <a:srgbClr val="E8A8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841247" y="3456432"/>
            <a:ext cx="3008377" cy="0"/>
          </a:xfrm>
          <a:prstGeom prst="line">
            <a:avLst/>
          </a:prstGeom>
          <a:ln w="12700">
            <a:solidFill>
              <a:srgbClr val="C9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247" y="3584448"/>
            <a:ext cx="30266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2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把推理过程本来就会产生的几个量凑成一个判据，输出可用 / 存疑 / 弃用三档。</a:t>
            </a:r>
            <a:endParaRPr sz="102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5000"/>
              </a:lnSpc>
            </a:pPr>
            <a:r>
              <a:rPr sz="102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不训练新模型，不加分支。</a:t>
            </a:r>
            <a:endParaRPr sz="102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89120" y="1517904"/>
            <a:ext cx="3593592" cy="2980944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40" y="1719072"/>
            <a:ext cx="457200" cy="457200"/>
          </a:xfrm>
          <a:prstGeom prst="ellipse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②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63440" y="2322576"/>
            <a:ext cx="3026664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什么时候去问超声波</a:t>
            </a:r>
            <a:endParaRPr sz="16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6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由模型决定</a:t>
            </a:r>
            <a:endParaRPr sz="16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3440" y="3145536"/>
            <a:ext cx="3026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8A81C"/>
                </a:solidFill>
                <a:latin typeface="微软雅黑" panose="020B0503020204020204" charset="-122"/>
                <a:ea typeface="微软雅黑" panose="020B0503020204020204" charset="-122"/>
              </a:rPr>
              <a:t>触发式定向复核</a:t>
            </a:r>
            <a:endParaRPr sz="1050" b="1">
              <a:solidFill>
                <a:srgbClr val="E8A8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4663440" y="3456432"/>
            <a:ext cx="3008376" cy="0"/>
          </a:xfrm>
          <a:prstGeom prst="line">
            <a:avLst/>
          </a:prstGeom>
          <a:ln w="12700">
            <a:solidFill>
              <a:srgbClr val="C9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63440" y="3584448"/>
            <a:ext cx="30266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2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不是每帧加权融合，只在不确信时唤醒超声、对准检测框方位复核。</a:t>
            </a:r>
            <a:endParaRPr sz="102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5000"/>
              </a:lnSpc>
            </a:pPr>
            <a:r>
              <a:rPr sz="102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把融合的「权重」换成融合的「时机」。</a:t>
            </a:r>
            <a:endParaRPr sz="102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11311" y="1517904"/>
            <a:ext cx="3593592" cy="2980944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85632" y="1719072"/>
            <a:ext cx="457200" cy="457200"/>
          </a:xfrm>
          <a:prstGeom prst="ellipse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③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85632" y="2322576"/>
            <a:ext cx="3026664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4 fps 的感知</a:t>
            </a:r>
            <a:endParaRPr sz="16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6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驱动 100 Hz 的控制</a:t>
            </a:r>
            <a:endParaRPr sz="16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85632" y="3145536"/>
            <a:ext cx="3026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8A81C"/>
                </a:solidFill>
                <a:latin typeface="微软雅黑" panose="020B0503020204020204" charset="-122"/>
                <a:ea typeface="微软雅黑" panose="020B0503020204020204" charset="-122"/>
              </a:rPr>
              <a:t>帧间运动学补位</a:t>
            </a:r>
            <a:endParaRPr sz="1050" b="1">
              <a:solidFill>
                <a:srgbClr val="E8A8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8485632" y="3456432"/>
            <a:ext cx="3008376" cy="0"/>
          </a:xfrm>
          <a:prstGeom prst="line">
            <a:avLst/>
          </a:prstGeom>
          <a:ln w="12700">
            <a:solidFill>
              <a:srgbClr val="C9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85632" y="3584448"/>
            <a:ext cx="30266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2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两帧之间用陀螺和编码器把旧框推演过来（跟踪器的 predict 环节），</a:t>
            </a:r>
            <a:endParaRPr sz="102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5000"/>
              </a:lnSpc>
            </a:pPr>
            <a:r>
              <a:rPr sz="102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让控制环看到连续目标，而不是跳变的框。</a:t>
            </a:r>
            <a:endParaRPr sz="102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66928" y="4956048"/>
            <a:ext cx="11073384" cy="786384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956048"/>
            <a:ext cx="64008" cy="786384"/>
          </a:xfrm>
          <a:prstGeom prst="rect">
            <a:avLst/>
          </a:prstGeom>
          <a:solidFill>
            <a:srgbClr val="E8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0292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三条都在系统层。方法全部借自前人（选择性预测、conformal 校准、惯性推演），我们的活是：在「没有推理加速器的那一档 M7」上，把它们拼成一条能跑通的链，并给出时延与能量的实测账。</a:t>
            </a:r>
            <a:endParaRPr sz="11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4904"/>
            <a:ext cx="548640" cy="795528"/>
          </a:xfrm>
          <a:prstGeom prst="rect">
            <a:avLst/>
          </a:prstGeom>
          <a:solidFill>
            <a:srgbClr val="0B4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47B3"/>
                </a:solidFill>
                <a:latin typeface="微软雅黑" panose="020B0503020204020204" charset="-122"/>
                <a:ea typeface="微软雅黑" panose="020B0503020204020204" charset="-122"/>
              </a:rPr>
              <a:t>帧级可信度判定</a:t>
            </a:r>
            <a:endParaRPr sz="3000" b="1">
              <a:solidFill>
                <a:srgbClr val="0B47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941832"/>
            <a:ext cx="2980944" cy="0"/>
          </a:xfrm>
          <a:prstGeom prst="line">
            <a:avLst/>
          </a:prstGeom>
          <a:ln w="13970">
            <a:solidFill>
              <a:srgbClr val="0B47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76656" y="100584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IDEA 01  ·  FRAME-LEVEL CONFIDENCE</a:t>
            </a:r>
            <a:endParaRPr sz="85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63367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08 / 21</a:t>
            </a:r>
            <a:endParaRPr sz="100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核心一句话：让模型自己说，这一帧靠不靠得住。</a:t>
            </a:r>
            <a:endParaRPr sz="13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664208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四个几乎不要钱的信号</a:t>
            </a:r>
            <a:endParaRPr sz="1050" b="1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1938528"/>
            <a:ext cx="2633472" cy="128016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3911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8A81C"/>
                </a:solidFill>
                <a:latin typeface="微软雅黑" panose="020B0503020204020204" charset="-122"/>
                <a:ea typeface="微软雅黑" panose="020B0503020204020204" charset="-122"/>
              </a:rPr>
              <a:t>S1</a:t>
            </a:r>
            <a:endParaRPr sz="1050" b="1">
              <a:solidFill>
                <a:srgbClr val="E8A8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8" y="228600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top1 − top2 间隔</a:t>
            </a:r>
            <a:endParaRPr sz="122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9808" y="2587752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2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INT8 域直接相减，不反量化、不跑 exp</a:t>
            </a:r>
            <a:endParaRPr sz="92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55848" y="1938528"/>
            <a:ext cx="2633472" cy="128016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203911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8A81C"/>
                </a:solidFill>
                <a:latin typeface="微软雅黑" panose="020B0503020204020204" charset="-122"/>
                <a:ea typeface="微软雅黑" panose="020B0503020204020204" charset="-122"/>
              </a:rPr>
              <a:t>S2</a:t>
            </a:r>
            <a:endParaRPr sz="1050" b="1">
              <a:solidFill>
                <a:srgbClr val="E8A8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38728" y="228600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量化饱和率</a:t>
            </a:r>
            <a:endParaRPr sz="122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38728" y="2587752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2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被 clamp 到 ±127 的激活占比——量化模型独有的失效信号</a:t>
            </a:r>
            <a:endParaRPr sz="92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66928" y="3355848"/>
            <a:ext cx="2633472" cy="128016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45643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8A81C"/>
                </a:solidFill>
                <a:latin typeface="微软雅黑" panose="020B0503020204020204" charset="-122"/>
                <a:ea typeface="微软雅黑" panose="020B0503020204020204" charset="-122"/>
              </a:rPr>
              <a:t>S3</a:t>
            </a:r>
            <a:endParaRPr sz="1050" b="1">
              <a:solidFill>
                <a:srgbClr val="E8A8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9808" y="370332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帧间一致性</a:t>
            </a:r>
            <a:endParaRPr sz="122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9808" y="4005072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2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相邻帧框的 IoU，与 IMU 预测位移的残差</a:t>
            </a:r>
            <a:endParaRPr sz="92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355848" y="3355848"/>
            <a:ext cx="2633472" cy="128016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8728" y="3456432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8A81C"/>
                </a:solidFill>
                <a:latin typeface="微软雅黑" panose="020B0503020204020204" charset="-122"/>
                <a:ea typeface="微软雅黑" panose="020B0503020204020204" charset="-122"/>
              </a:rPr>
              <a:t>S4</a:t>
            </a:r>
            <a:endParaRPr sz="1050" b="1">
              <a:solidFill>
                <a:srgbClr val="E8A8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38728" y="370332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输出熵（对照组）</a:t>
            </a:r>
            <a:endParaRPr sz="122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38728" y="4005072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2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LUT + 整数移位做定点近似，用来判断有没有必要</a:t>
            </a:r>
            <a:endParaRPr sz="92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53328" y="1609344"/>
            <a:ext cx="5577840" cy="2926080"/>
          </a:xfrm>
          <a:prstGeom prst="rect">
            <a:avLst/>
          </a:prstGeom>
          <a:solidFill>
            <a:srgbClr val="F7F9FD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2784" y="171907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输出：三档判定 + 一个时间戳</a:t>
            </a:r>
            <a:endParaRPr sz="1050" b="1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72784" y="2048256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 panose="020B0503020204020204" charset="-122"/>
              </a:rPr>
              <a:t>W</a:t>
            </a:r>
            <a:endParaRPr sz="1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67728" y="205740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可用</a:t>
            </a:r>
            <a:endParaRPr sz="135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67728" y="2340864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决策层正常使用</a:t>
            </a:r>
            <a:endParaRPr sz="98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6272784" y="2688336"/>
            <a:ext cx="5102352" cy="0"/>
          </a:xfrm>
          <a:prstGeom prst="line">
            <a:avLst/>
          </a:prstGeom>
          <a:ln w="12700">
            <a:solidFill>
              <a:srgbClr val="C9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272784" y="2834640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E8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 panose="020B0503020204020204" charset="-122"/>
              </a:rPr>
              <a:t>U</a:t>
            </a:r>
            <a:endParaRPr sz="1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967728" y="284378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A81C"/>
                </a:solidFill>
                <a:latin typeface="微软雅黑" panose="020B0503020204020204" charset="-122"/>
                <a:ea typeface="微软雅黑" panose="020B0503020204020204" charset="-122"/>
              </a:rPr>
              <a:t>存疑</a:t>
            </a:r>
            <a:endParaRPr sz="1350" b="1">
              <a:solidFill>
                <a:srgbClr val="E8A8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67728" y="312724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降速，交给下一环复核</a:t>
            </a:r>
            <a:endParaRPr sz="98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272784" y="3474720"/>
            <a:ext cx="5102352" cy="0"/>
          </a:xfrm>
          <a:prstGeom prst="line">
            <a:avLst/>
          </a:prstGeom>
          <a:ln w="12700">
            <a:solidFill>
              <a:srgbClr val="C9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272784" y="3621024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 panose="020B0503020204020204" charset="-122"/>
              </a:rPr>
              <a:t>R</a:t>
            </a:r>
            <a:endParaRPr sz="1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67728" y="363016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弃用</a:t>
            </a:r>
            <a:endParaRPr sz="1350" b="1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67728" y="391363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不参与决策，转反应式</a:t>
            </a:r>
            <a:endParaRPr sz="98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53328" y="4590288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这些量都来自推理过程本身：不新增网络分支，不新增第二个模型，内存增量在个位数 KB。</a:t>
            </a:r>
            <a:endParaRPr sz="96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66928" y="5138928"/>
            <a:ext cx="11064240" cy="640080"/>
          </a:xfrm>
          <a:prstGeom prst="rect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212080"/>
            <a:ext cx="26517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要证的指标（目标值）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749039" y="5212080"/>
            <a:ext cx="7680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错误帧召回 ≥ 70%   ·   存疑档触发率 ≤ 30%   ·   定点版相对浮点版判别力损失 ≤ 5 个点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66928" y="5888736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阈值不写死：验证集分位点定 W / U 分界，并报告它换光照、换校准集的漂移量。四信号若都没判别力，就如实写「走不通」。</a:t>
            </a:r>
            <a:endParaRPr sz="96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4904"/>
            <a:ext cx="548640" cy="795528"/>
          </a:xfrm>
          <a:prstGeom prst="rect">
            <a:avLst/>
          </a:prstGeom>
          <a:solidFill>
            <a:srgbClr val="0B4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47B3"/>
                </a:solidFill>
                <a:latin typeface="微软雅黑" panose="020B0503020204020204" charset="-122"/>
                <a:ea typeface="微软雅黑" panose="020B0503020204020204" charset="-122"/>
              </a:rPr>
              <a:t>什么时候去问超声波</a:t>
            </a:r>
            <a:endParaRPr sz="3000" b="1">
              <a:solidFill>
                <a:srgbClr val="0B47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941832"/>
            <a:ext cx="3785615" cy="0"/>
          </a:xfrm>
          <a:prstGeom prst="line">
            <a:avLst/>
          </a:prstGeom>
          <a:ln w="13970">
            <a:solidFill>
              <a:srgbClr val="0B47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76656" y="100584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IDEA 02  ·  WHEN TO FUSE, NOT HOW TO WEIGH</a:t>
            </a:r>
            <a:endParaRPr sz="85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63367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09 / 21</a:t>
            </a:r>
            <a:endParaRPr sz="100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核心一句话：融合的不是权重，是时机。</a:t>
            </a:r>
            <a:endParaRPr sz="13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700784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两种融合理念</a:t>
            </a:r>
            <a:endParaRPr sz="1050" b="1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1975104"/>
            <a:ext cx="5138928" cy="1225296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066543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通行做法：每帧加权融合</a:t>
            </a:r>
            <a:endParaRPr sz="1220" b="1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" y="2377440"/>
            <a:ext cx="4700016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6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超声与视觉按固定权重平均，或按场景切换权重。代价恒定：视觉判断错的时候，超声的正确读数会被平均值一起带偏。</a:t>
            </a:r>
            <a:endParaRPr sz="96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6928" y="3328416"/>
            <a:ext cx="5138928" cy="1225296"/>
          </a:xfrm>
          <a:prstGeom prst="rect">
            <a:avLst/>
          </a:prstGeom>
          <a:solidFill>
            <a:srgbClr val="F6F9FF"/>
          </a:solidFill>
          <a:ln w="16510">
            <a:solidFill>
              <a:srgbClr val="023F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41985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我们的做法：把「权重」换成「时机」</a:t>
            </a:r>
            <a:endParaRPr sz="122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6384" y="3730752"/>
            <a:ext cx="4700016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6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超声平时休眠。只有模型报「存疑」时才唤醒它，对准检测框方位测三次，把它当第二个证人，而不是参与平均的一个分量。</a:t>
            </a:r>
            <a:endParaRPr sz="96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53328" y="1700784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三档对应的三个动作</a:t>
            </a:r>
            <a:endParaRPr sz="1050" b="1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53328" y="1975104"/>
            <a:ext cx="5577840" cy="786384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53328" y="1975104"/>
            <a:ext cx="54864" cy="786384"/>
          </a:xfrm>
          <a:prstGeom prst="rect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2048256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W</a:t>
            </a:r>
            <a:endParaRPr sz="14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29984" y="203911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正常速度前行</a:t>
            </a:r>
            <a:endParaRPr sz="12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29984" y="234086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超声休眠，只有视觉在工作</a:t>
            </a:r>
            <a:endParaRPr sz="93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53328" y="2871216"/>
            <a:ext cx="5577840" cy="786384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3328" y="2871216"/>
            <a:ext cx="54864" cy="786384"/>
          </a:xfrm>
          <a:prstGeom prst="rect">
            <a:avLst/>
          </a:prstGeom>
          <a:solidFill>
            <a:srgbClr val="E8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2944368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81C"/>
                </a:solidFill>
                <a:latin typeface="微软雅黑" panose="020B0503020204020204" charset="-122"/>
                <a:ea typeface="微软雅黑" panose="020B0503020204020204" charset="-122"/>
              </a:rPr>
              <a:t>U</a:t>
            </a:r>
            <a:endParaRPr sz="1400" b="1">
              <a:solidFill>
                <a:srgbClr val="E8A8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29984" y="293522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降速 50%，定向复核</a:t>
            </a:r>
            <a:endParaRPr sz="12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29984" y="3236976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框方位 ±30° 内测距 3 次，两证人一致才通过</a:t>
            </a:r>
            <a:endParaRPr sz="93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53328" y="3767328"/>
            <a:ext cx="5577840" cy="786384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53328" y="3767328"/>
            <a:ext cx="54864" cy="7863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384048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R</a:t>
            </a:r>
            <a:endParaRPr sz="1400" b="1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29984" y="3831336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停车 / 反应式避障</a:t>
            </a:r>
            <a:endParaRPr sz="12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29984" y="413308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视觉退出决策，超声波主导，慢速试探</a:t>
            </a:r>
            <a:endParaRPr sz="93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66928" y="4773168"/>
            <a:ext cx="11064240" cy="969264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773168"/>
            <a:ext cx="64008" cy="969264"/>
          </a:xfrm>
          <a:prstGeom prst="rect">
            <a:avLst/>
          </a:prstGeom>
          <a:solidFill>
            <a:srgbClr val="E8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84632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必须同时成立的三件事</a:t>
            </a:r>
            <a:endParaRPr sz="105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1248" y="512064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4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① 触发不能太频繁也不能太慢：存疑档占比 ≤ 30%，触发到出复核结果 ≤ 150 ms</a:t>
            </a:r>
            <a:endParaRPr sz="94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2000"/>
              </a:lnSpc>
            </a:pPr>
            <a:r>
              <a:rPr sz="94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② 不能拿安全换时间：W 档的漏检率不得高于全帧融合    ③ 真能降错：视觉误检场景下，误动作率相对单视觉基线下降 ≥ 50%</a:t>
            </a:r>
            <a:endParaRPr sz="94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928" y="5870448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复核只投否决票、不重算分数——重算会让错误率超目标 13 个百分点（BCEA 2026）。指标因此换掉：不比 mAP，比误动作率、漏检代价、时延。</a:t>
            </a:r>
            <a:endParaRPr sz="105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4904"/>
            <a:ext cx="548640" cy="795528"/>
          </a:xfrm>
          <a:prstGeom prst="rect">
            <a:avLst/>
          </a:prstGeom>
          <a:solidFill>
            <a:srgbClr val="0B4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47B3"/>
                </a:solidFill>
                <a:latin typeface="微软雅黑" panose="020B0503020204020204" charset="-122"/>
                <a:ea typeface="微软雅黑" panose="020B0503020204020204" charset="-122"/>
              </a:rPr>
              <a:t>两帧之间怎么补上</a:t>
            </a:r>
            <a:endParaRPr sz="3000" b="1">
              <a:solidFill>
                <a:srgbClr val="0B47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941832"/>
            <a:ext cx="3383280" cy="0"/>
          </a:xfrm>
          <a:prstGeom prst="line">
            <a:avLst/>
          </a:prstGeom>
          <a:ln w="13970">
            <a:solidFill>
              <a:srgbClr val="0B47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76656" y="100584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IDEA 03  ·  BETWEEN THE FRAMES</a:t>
            </a:r>
            <a:endParaRPr sz="85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63367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10 / 21</a:t>
            </a:r>
            <a:endParaRPr sz="100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核心一句话：4 fps 的感知，要让 100 Hz 的控制觉得自己一直在看。</a:t>
            </a:r>
            <a:endParaRPr sz="13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682496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检测帧  4 fps（每 240 ms 一帧）</a:t>
            </a:r>
            <a:endParaRPr sz="9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234440" y="1938528"/>
            <a:ext cx="566928" cy="402336"/>
          </a:xfrm>
          <a:prstGeom prst="roundRect">
            <a:avLst>
              <a:gd name="adj" fmla="val 12000"/>
            </a:avLst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395728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0 ms</a:t>
            </a:r>
            <a:endParaRPr sz="880" b="0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837944" y="2139696"/>
            <a:ext cx="1691640" cy="0"/>
          </a:xfrm>
          <a:prstGeom prst="line">
            <a:avLst/>
          </a:prstGeom>
          <a:ln w="15240">
            <a:solidFill>
              <a:srgbClr val="B8C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1938528"/>
            <a:ext cx="566928" cy="402336"/>
          </a:xfrm>
          <a:prstGeom prst="roundRect">
            <a:avLst>
              <a:gd name="adj" fmla="val 12000"/>
            </a:avLst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82696" y="2395728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240 ms</a:t>
            </a:r>
            <a:endParaRPr sz="880" b="0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4169663" y="2139696"/>
            <a:ext cx="1691641" cy="0"/>
          </a:xfrm>
          <a:prstGeom prst="line">
            <a:avLst/>
          </a:prstGeom>
          <a:ln w="15240">
            <a:solidFill>
              <a:srgbClr val="B8C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897880" y="1938528"/>
            <a:ext cx="566928" cy="402336"/>
          </a:xfrm>
          <a:prstGeom prst="roundRect">
            <a:avLst>
              <a:gd name="adj" fmla="val 12000"/>
            </a:avLst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14416" y="2395728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480 ms</a:t>
            </a:r>
            <a:endParaRPr sz="880" b="0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6501384" y="2139696"/>
            <a:ext cx="1691640" cy="0"/>
          </a:xfrm>
          <a:prstGeom prst="line">
            <a:avLst/>
          </a:prstGeom>
          <a:ln w="15240">
            <a:solidFill>
              <a:srgbClr val="B8C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0" y="1938528"/>
            <a:ext cx="566928" cy="402336"/>
          </a:xfrm>
          <a:prstGeom prst="roundRect">
            <a:avLst>
              <a:gd name="adj" fmla="val 12000"/>
            </a:avLst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46136" y="2395728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720 ms</a:t>
            </a:r>
            <a:endParaRPr sz="880" b="0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8833104" y="2139696"/>
            <a:ext cx="1691640" cy="0"/>
          </a:xfrm>
          <a:prstGeom prst="line">
            <a:avLst/>
          </a:prstGeom>
          <a:ln w="15240">
            <a:solidFill>
              <a:srgbClr val="B8C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561320" y="1938528"/>
            <a:ext cx="566928" cy="402336"/>
          </a:xfrm>
          <a:prstGeom prst="roundRect">
            <a:avLst>
              <a:gd name="adj" fmla="val 12000"/>
            </a:avLst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77856" y="2395728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960 ms</a:t>
            </a:r>
            <a:endParaRPr sz="880" b="0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234440" y="2834640"/>
            <a:ext cx="9893808" cy="310896"/>
          </a:xfrm>
          <a:prstGeom prst="rect">
            <a:avLst/>
          </a:prstGeom>
          <a:solidFill>
            <a:srgbClr val="E4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325880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40764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55648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70531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185415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400299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15183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30067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044951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59835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74719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689603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904487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119372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334256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49140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764024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978908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193792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408676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623560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838444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053328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268212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483096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697980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912864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127748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342632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557516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772400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987284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202168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417052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631936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846820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061704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76588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491472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06355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921239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136123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351007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565891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780775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995659" y="2880360"/>
            <a:ext cx="0" cy="219456"/>
          </a:xfrm>
          <a:prstGeom prst="line">
            <a:avLst/>
          </a:prstGeom>
          <a:ln w="10160">
            <a:solidFill>
              <a:srgbClr val="B6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517904" y="2377440"/>
            <a:ext cx="0" cy="420624"/>
          </a:xfrm>
          <a:prstGeom prst="line">
            <a:avLst/>
          </a:prstGeom>
          <a:ln w="15240">
            <a:solidFill>
              <a:srgbClr val="E8A81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849624" y="2377440"/>
            <a:ext cx="0" cy="420624"/>
          </a:xfrm>
          <a:prstGeom prst="line">
            <a:avLst/>
          </a:prstGeom>
          <a:ln w="15240">
            <a:solidFill>
              <a:srgbClr val="E8A81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181344" y="2377440"/>
            <a:ext cx="0" cy="420624"/>
          </a:xfrm>
          <a:prstGeom prst="line">
            <a:avLst/>
          </a:prstGeom>
          <a:ln w="15240">
            <a:solidFill>
              <a:srgbClr val="E8A81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513064" y="2377440"/>
            <a:ext cx="0" cy="420624"/>
          </a:xfrm>
          <a:prstGeom prst="line">
            <a:avLst/>
          </a:prstGeom>
          <a:ln w="15240">
            <a:solidFill>
              <a:srgbClr val="E8A81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844784" y="2377440"/>
            <a:ext cx="0" cy="420624"/>
          </a:xfrm>
          <a:prstGeom prst="line">
            <a:avLst/>
          </a:prstGeom>
          <a:ln w="15240">
            <a:solidFill>
              <a:srgbClr val="E8A81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66928" y="321868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控制环 100 Hz：每 240 ms 更新 24 次，只有 1 次拿到新检测</a:t>
            </a:r>
            <a:endParaRPr sz="96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766560" y="3218688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E8A81C"/>
                </a:solidFill>
                <a:latin typeface="微软雅黑" panose="020B0503020204020204" charset="-122"/>
                <a:ea typeface="微软雅黑" panose="020B0503020204020204" charset="-122"/>
              </a:rPr>
              <a:t>其余 23 次，位置靠陀螺 + 编码器推演</a:t>
            </a:r>
            <a:endParaRPr sz="960" b="1">
              <a:solidFill>
                <a:srgbClr val="E8A8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566928" y="3602736"/>
            <a:ext cx="5394960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6384" y="3694176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为什么非补不可</a:t>
            </a:r>
            <a:endParaRPr sz="115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86384" y="3986784"/>
            <a:ext cx="495604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3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把 240 ms 前的旧框直接喂给 PID，等于给控制环加了固定相位滞后——车会画龙、过冲、在障碍前反复修正。这是控制里的常识，但在五十块钱的四轮小车上没人认真处理。</a:t>
            </a:r>
            <a:endParaRPr sz="93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236208" y="3602736"/>
            <a:ext cx="5394960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55664" y="3694176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怎么证明它有用</a:t>
            </a:r>
            <a:endParaRPr sz="115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455664" y="3986784"/>
            <a:ext cx="495604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3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同一段避障路线跑 20 次，只切换「补位开 / 关」一个变量，比两个数：轨迹最大横向偏差、电机指令差分的 RMS。两条曲线应该能明显分开。</a:t>
            </a:r>
            <a:endParaRPr sz="93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566928" y="4956048"/>
            <a:ext cx="11064240" cy="5486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6384" y="5010912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平面 3-DoF 推演：p(t) = p(t₀) + R(Δθ)·v·Δt        不确定度随时间增长：σ(t) = σ₀ + k·Δt（不做卡尔曼，只做显式线性增长，好解释也好调）</a:t>
            </a:r>
            <a:endParaRPr sz="94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66928" y="5614416"/>
            <a:ext cx="1106424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2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定位说明：这一条是工程创新，不是方法创新——高频惯性 + 低频视觉是成熟常识。</a:t>
            </a:r>
            <a:endParaRPr sz="92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92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我们的价值在于把它在定点运算、几十 KB RAM、没有浮点余量的条件下做到能用，并把收益量化出来。</a:t>
            </a:r>
            <a:endParaRPr sz="92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4904"/>
            <a:ext cx="548640" cy="795528"/>
          </a:xfrm>
          <a:prstGeom prst="rect">
            <a:avLst/>
          </a:prstGeom>
          <a:solidFill>
            <a:srgbClr val="0B4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47B3"/>
                </a:solidFill>
                <a:latin typeface="微软雅黑" panose="020B0503020204020204" charset="-122"/>
                <a:ea typeface="微软雅黑" panose="020B0503020204020204" charset="-122"/>
              </a:rPr>
              <a:t>我们站的位置</a:t>
            </a:r>
            <a:endParaRPr sz="3000" b="1">
              <a:solidFill>
                <a:srgbClr val="0B47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941832"/>
            <a:ext cx="2578608" cy="0"/>
          </a:xfrm>
          <a:prstGeom prst="line">
            <a:avLst/>
          </a:prstGeom>
          <a:ln w="13970">
            <a:solidFill>
              <a:srgbClr val="0B47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76656" y="100584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WHERE WE STAND  ·  五列里最关键的是最后两列</a:t>
            </a:r>
            <a:endParaRPr sz="85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63367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11 / 21</a:t>
            </a:r>
            <a:endParaRPr sz="100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44752"/>
          <a:ext cx="11064240" cy="34198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88920"/>
                <a:gridCol w="1417320"/>
                <a:gridCol w="1691640"/>
                <a:gridCol w="2788920"/>
                <a:gridCol w="237744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代表工作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023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平台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023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任务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023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感知自身可靠性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023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拿它做什么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023FA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TFLite Micro / CMSIS-NN / MLPerf Tiny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Cortex-M 等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分类、唤醒词、基准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不做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DORY / MicroNets / TinyissimoYOLO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MCU / GAP9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分类、检测部署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不做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Deploy-SSD-ON-STM32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STM32H743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目标检测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不做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QUTE / TCUQ（2025）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STM32L4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分类、音频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做：方差 / 时序一致性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拒识（预算化）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TrustTiny-HAR（2026）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STM32L4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人体动作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做：校准 + OOD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拒识 / 上云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Thinking Fast（2026）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GAP9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深度估计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做：置信度门控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唤醒更贵的传感器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Co-GLANCE / BCEA（2026）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GPU / 云端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遮挡、LVLM 幻觉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做：conformal 两级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派另一台机器人去看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023FA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本项目</a:t>
                      </a:r>
                      <a:endParaRPr sz="960" b="1">
                        <a:solidFill>
                          <a:srgbClr val="023FA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3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023FA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STM32H743</a:t>
                      </a:r>
                      <a:endParaRPr sz="960" b="1">
                        <a:solidFill>
                          <a:srgbClr val="023FA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3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023FA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目标检测</a:t>
                      </a:r>
                      <a:endParaRPr sz="960" b="1">
                        <a:solidFill>
                          <a:srgbClr val="023FA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3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023FA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做：三档判定</a:t>
                      </a:r>
                      <a:endParaRPr sz="960" b="1">
                        <a:solidFill>
                          <a:srgbClr val="023FA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3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023FA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触发定向复核 + 降级控制</a:t>
                      </a:r>
                      <a:endParaRPr sz="960" b="1">
                        <a:solidFill>
                          <a:srgbClr val="023FA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3EC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36295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前四行证明「能跑」；中间四行证明「知道自己不可靠」，但停在分类/音频/人体动作，或者必须靠 GPU、GAP9 才跑得动。QMA 也用饱和率，但查模型退化、不判单帧。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我们落在的格子：目标检测（实例级框）× 没有推理加速器的 M7 × 本地传感器复核 × 硬实时 ≤150 ms × 有能量账。</a:t>
            </a:r>
            <a:endParaRPr sz="11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12192000" cy="6912403"/>
          </a:xfrm>
          <a:prstGeom prst="rect">
            <a:avLst/>
          </a:prstGeom>
          <a:gradFill flip="none" rotWithShape="1">
            <a:gsLst>
              <a:gs pos="100000">
                <a:srgbClr val="0B47B3">
                  <a:alpha val="70000"/>
                </a:srgbClr>
              </a:gs>
              <a:gs pos="0">
                <a:srgbClr val="0B47B3">
                  <a:alpha val="95000"/>
                </a:srgbClr>
              </a:gs>
              <a:gs pos="69000">
                <a:srgbClr val="0B47B3"/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95219" y="1224329"/>
            <a:ext cx="5328592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700" dirty="0">
                <a:solidFill>
                  <a:prstClr val="white"/>
                </a:solidFill>
                <a:latin typeface="Arial Black" panose="020B0A04020102020204" pitchFamily="34" charset="0"/>
              </a:rPr>
              <a:t>03</a:t>
            </a:r>
            <a:endParaRPr lang="zh-CN" altLang="en-US" sz="28700" dirty="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6079784" y="2062596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技术路线</a:t>
            </a:r>
            <a:endParaRPr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6255757" y="3143336"/>
            <a:ext cx="3594498" cy="0"/>
          </a:xfrm>
          <a:prstGeom prst="lin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8" name="标题 4"/>
          <p:cNvSpPr txBox="1"/>
          <p:nvPr/>
        </p:nvSpPr>
        <p:spPr>
          <a:xfrm>
            <a:off x="6225638" y="3862063"/>
            <a:ext cx="4754488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六个里程碑，每一级都有验收标准
卡不住的不硬上，卡住了就降级</a:t>
            </a:r>
            <a:endParaRPr sz="2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4244" y="5524140"/>
            <a:ext cx="29971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chemeClr val="bg1"/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耐劳苦，尚俭朴，勤学业，爱国家。</a:t>
            </a:r>
            <a:endParaRPr lang="zh-CN" altLang="en-US" sz="28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079" y="273779"/>
            <a:ext cx="2332026" cy="7359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4904"/>
            <a:ext cx="548640" cy="795528"/>
          </a:xfrm>
          <a:prstGeom prst="rect">
            <a:avLst/>
          </a:prstGeom>
          <a:solidFill>
            <a:srgbClr val="0B4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47B3"/>
                </a:solidFill>
                <a:latin typeface="微软雅黑" panose="020B0503020204020204" charset="-122"/>
                <a:ea typeface="微软雅黑" panose="020B0503020204020204" charset="-122"/>
              </a:rPr>
              <a:t>六个里程碑，每级有验收</a:t>
            </a:r>
            <a:endParaRPr sz="3000" b="1">
              <a:solidFill>
                <a:srgbClr val="0B47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941832"/>
            <a:ext cx="4590287" cy="0"/>
          </a:xfrm>
          <a:prstGeom prst="line">
            <a:avLst/>
          </a:prstGeom>
          <a:ln w="13970">
            <a:solidFill>
              <a:srgbClr val="0B47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76656" y="100584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ROADMAP  ·  每一级不通过就不往下走</a:t>
            </a:r>
            <a:endParaRPr sz="85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63367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13 / 21</a:t>
            </a:r>
            <a:endParaRPr sz="100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097280" y="1993392"/>
            <a:ext cx="10104120" cy="0"/>
          </a:xfrm>
          <a:prstGeom prst="line">
            <a:avLst/>
          </a:prstGeom>
          <a:ln w="30480">
            <a:solidFill>
              <a:srgbClr val="C6D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243584" y="1819656"/>
            <a:ext cx="347472" cy="34747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23F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35024" y="1911095"/>
            <a:ext cx="164592" cy="164592"/>
          </a:xfrm>
          <a:prstGeom prst="ellipse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46304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2026.11.30</a:t>
            </a:r>
            <a:endParaRPr sz="92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2648" y="2304288"/>
            <a:ext cx="1609344" cy="2212848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395728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选型与跑通</a:t>
            </a:r>
            <a:endParaRPr sz="106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664" y="2688336"/>
            <a:ext cx="137160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相机出图、Cube.AI 跑通一个官方模型、内存账算平</a:t>
            </a:r>
            <a:endParaRPr sz="8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740664" y="3657600"/>
            <a:ext cx="1371600" cy="0"/>
          </a:xfrm>
          <a:prstGeom prst="line">
            <a:avLst/>
          </a:prstGeom>
          <a:ln w="12700">
            <a:solidFill>
              <a:srgbClr val="C9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0664" y="3712463"/>
            <a:ext cx="13716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9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官方模型能在板上跑起来</a:t>
            </a:r>
            <a:endParaRPr sz="79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026664" y="1819656"/>
            <a:ext cx="347472" cy="34747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23F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18104" y="1911095"/>
            <a:ext cx="164592" cy="164592"/>
          </a:xfrm>
          <a:prstGeom prst="ellipse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95728" y="146304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2027.02.19</a:t>
            </a:r>
            <a:endParaRPr sz="92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395728" y="2304288"/>
            <a:ext cx="1609344" cy="2212848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2395728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量化预演</a:t>
            </a:r>
            <a:endParaRPr sz="106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23744" y="2688336"/>
            <a:ext cx="137160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PC 端 INT8 量化，跑通后处理，标定精度损失</a:t>
            </a:r>
            <a:endParaRPr sz="8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2523744" y="3657600"/>
            <a:ext cx="1371600" cy="0"/>
          </a:xfrm>
          <a:prstGeom prst="line">
            <a:avLst/>
          </a:prstGeom>
          <a:ln w="12700">
            <a:solidFill>
              <a:srgbClr val="C9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23744" y="3712463"/>
            <a:ext cx="13716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9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精度损失 &lt; 3 个点</a:t>
            </a:r>
            <a:endParaRPr sz="79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809744" y="1819656"/>
            <a:ext cx="347472" cy="34747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23F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01184" y="1911095"/>
            <a:ext cx="164592" cy="164592"/>
          </a:xfrm>
          <a:prstGeom prst="ellipse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8808" y="146304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2027.04.14</a:t>
            </a:r>
            <a:endParaRPr sz="92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178808" y="2304288"/>
            <a:ext cx="1609344" cy="2212848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06824" y="2395728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端侧推理</a:t>
            </a:r>
            <a:endParaRPr sz="106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06824" y="2688336"/>
            <a:ext cx="137160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模型上板，静态内存划分，测首次端到端帧率</a:t>
            </a:r>
            <a:endParaRPr sz="8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4306824" y="3657600"/>
            <a:ext cx="1371600" cy="0"/>
          </a:xfrm>
          <a:prstGeom prst="line">
            <a:avLst/>
          </a:prstGeom>
          <a:ln w="12700">
            <a:solidFill>
              <a:srgbClr val="C9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306824" y="3712463"/>
            <a:ext cx="13716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9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≥ 3 fps，内存不溢出</a:t>
            </a:r>
            <a:endParaRPr sz="79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6592824" y="1819656"/>
            <a:ext cx="347472" cy="34747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23F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84264" y="1911095"/>
            <a:ext cx="164592" cy="164592"/>
          </a:xfrm>
          <a:prstGeom prst="ellipse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61888" y="146304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2027.06.16</a:t>
            </a:r>
            <a:endParaRPr sz="92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61888" y="2304288"/>
            <a:ext cx="1609344" cy="2212848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9904" y="2395728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融合联调</a:t>
            </a:r>
            <a:endParaRPr sz="106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89904" y="2688336"/>
            <a:ext cx="137160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三档判定与触发式复核接入，实车跑通识别与避障</a:t>
            </a:r>
            <a:endParaRPr sz="8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089904" y="3657600"/>
            <a:ext cx="1371600" cy="0"/>
          </a:xfrm>
          <a:prstGeom prst="line">
            <a:avLst/>
          </a:prstGeom>
          <a:ln w="12700">
            <a:solidFill>
              <a:srgbClr val="C9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089904" y="3712463"/>
            <a:ext cx="13716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9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中期检查可演示</a:t>
            </a:r>
            <a:endParaRPr sz="79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8375904" y="1819656"/>
            <a:ext cx="347472" cy="34747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23F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67344" y="1911095"/>
            <a:ext cx="164592" cy="164592"/>
          </a:xfrm>
          <a:prstGeom prst="ellipse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44967" y="146304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2027.07.15</a:t>
            </a:r>
            <a:endParaRPr sz="92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744967" y="2304288"/>
            <a:ext cx="1609344" cy="2212848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72983" y="2395728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系统优化</a:t>
            </a:r>
            <a:endParaRPr sz="106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872983" y="2688336"/>
            <a:ext cx="137160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帧间补位上线，数据补齐，写部署流程文档</a:t>
            </a:r>
            <a:endParaRPr sz="8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7872983" y="3657600"/>
            <a:ext cx="1371601" cy="0"/>
          </a:xfrm>
          <a:prstGeom prst="line">
            <a:avLst/>
          </a:prstGeom>
          <a:ln w="12700">
            <a:solidFill>
              <a:srgbClr val="C9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872983" y="3712463"/>
            <a:ext cx="13716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9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清单里的指标全部测满</a:t>
            </a:r>
            <a:endParaRPr sz="79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10158984" y="1819656"/>
            <a:ext cx="347472" cy="34747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23F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250424" y="1911095"/>
            <a:ext cx="164592" cy="164592"/>
          </a:xfrm>
          <a:prstGeom prst="ellipse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28048" y="146304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2027.08.15</a:t>
            </a:r>
            <a:endParaRPr sz="92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528048" y="2304288"/>
            <a:ext cx="1609344" cy="2212848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56064" y="2395728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结题</a:t>
            </a:r>
            <a:endParaRPr sz="106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656064" y="2688336"/>
            <a:ext cx="137160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整理源码、报告、数据表，投稿或提交专利申请</a:t>
            </a:r>
            <a:endParaRPr sz="8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9656064" y="3657600"/>
            <a:ext cx="1371600" cy="0"/>
          </a:xfrm>
          <a:prstGeom prst="line">
            <a:avLst/>
          </a:prstGeom>
          <a:ln w="12700">
            <a:solidFill>
              <a:srgbClr val="C9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656064" y="3712463"/>
            <a:ext cx="13716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9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结题材料齐全</a:t>
            </a:r>
            <a:endParaRPr sz="79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66928" y="4773168"/>
            <a:ext cx="11064240" cy="877824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6928" y="4773168"/>
            <a:ext cx="64008" cy="877824"/>
          </a:xfrm>
          <a:prstGeom prst="rect">
            <a:avLst/>
          </a:prstGeom>
          <a:solidFill>
            <a:srgbClr val="E8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" y="4846320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卡点怎么处理（现在就写清楚，免得到时候硬撑）</a:t>
            </a:r>
            <a:endParaRPr sz="105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41248" y="5138928"/>
            <a:ext cx="105613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3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2027.04.14 端侧跑不通 → 立刻砍掉创新点③，把资源压到①②，保住「能识别 + 能避障」这条底线；</a:t>
            </a:r>
            <a:endParaRPr sz="93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2000"/>
              </a:lnSpc>
            </a:pPr>
            <a:r>
              <a:rPr sz="93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2027.02.19 量化精度崩了 → 优先降输入分辨率（192→160）和减类别（3 类以内），不改网络结构。</a:t>
            </a:r>
            <a:endParaRPr sz="93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4904"/>
            <a:ext cx="548640" cy="795528"/>
          </a:xfrm>
          <a:prstGeom prst="rect">
            <a:avLst/>
          </a:prstGeom>
          <a:solidFill>
            <a:srgbClr val="0B4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47B3"/>
                </a:solidFill>
                <a:latin typeface="微软雅黑" panose="020B0503020204020204" charset="-122"/>
                <a:ea typeface="微软雅黑" panose="020B0503020204020204" charset="-122"/>
              </a:rPr>
              <a:t>为什么不买开发板而是核心板</a:t>
            </a:r>
            <a:endParaRPr sz="3000" b="1">
              <a:solidFill>
                <a:srgbClr val="0B47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941832"/>
            <a:ext cx="5394959" cy="0"/>
          </a:xfrm>
          <a:prstGeom prst="line">
            <a:avLst/>
          </a:prstGeom>
          <a:ln w="13970">
            <a:solidFill>
              <a:srgbClr val="0B47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76656" y="100584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HARDWARE  ·  选型的第一个约束是内存，不是主频</a:t>
            </a:r>
            <a:endParaRPr sz="85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63367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14 / 21</a:t>
            </a:r>
            <a:endParaRPr sz="100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26464"/>
          <a:ext cx="11064238" cy="31638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84811"/>
                <a:gridCol w="4119154"/>
                <a:gridCol w="957942"/>
                <a:gridCol w="4502331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器件</a:t>
                      </a:r>
                      <a:endParaRPr sz="9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023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型号与关键参数</a:t>
                      </a:r>
                      <a:endParaRPr sz="9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023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预算</a:t>
                      </a:r>
                      <a:endParaRPr sz="9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023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为什么是它</a:t>
                      </a:r>
                      <a:endParaRPr sz="9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023FA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感知主控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STM32H743VIT6 核心板
2 MB Flash / 1 MB RAM / 480 MHz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130 元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192×192 检测模型要 330 KB Flash、174 KB 激活 RAM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摄像头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OV2640，DCMI 接口，200 万像素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 元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支持 JPEG 输出，省 MCU 端编码开销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超声波 ×2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HC-SR04，2–400 cm，波束约 15°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 元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波束窄，才能做「定向复核」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姿态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MPU6050，6 轴，I²C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 元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帧间推演只需要陀螺，不需要磁力计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底盘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F103C8T6 + DRV8833 + 60 mm 麦轮（已有）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 元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已随机器人竞赛搭好并验证过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645152"/>
            <a:ext cx="5413248" cy="1207008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73659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为什么不是 H750</a:t>
            </a:r>
            <a:endParaRPr sz="115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" y="5029200"/>
            <a:ext cx="4974336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3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H750 只有 128 KB 内部 Flash，而 192×192 检测模型的权重就 277 KB，必须外挂 QSPI 并改启动链路。多花的钱不多，多踩的坑不少。</a:t>
            </a:r>
            <a:endParaRPr sz="93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4645152"/>
            <a:ext cx="5413248" cy="1207008"/>
          </a:xfrm>
          <a:prstGeom prst="rect">
            <a:avLst/>
          </a:prstGeom>
          <a:solidFill>
            <a:srgbClr val="E8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473659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资源账（ST model zoo 实测口径）</a:t>
            </a:r>
            <a:endParaRPr sz="115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37376" y="5029200"/>
            <a:ext cx="4974336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3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192×192 INT8 检测模型：激活 RAM 166 KB + 运行时 8 KB = 174 KB；权重 277 KB + 代码 53 KB = 330 KB Flash。放在 1 MB / 2 MB 里，Flash 和 RAM 都用了不到两成，余下的够开双缓冲和日志。</a:t>
            </a:r>
            <a:endParaRPr sz="93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" y="59436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合计约 178 元（核心板方案），在 450 元额度内；量产换 H723 裸片打板，BOM 降到 86 元。</a:t>
            </a:r>
            <a:endParaRPr sz="960" b="1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4904"/>
            <a:ext cx="548640" cy="795528"/>
          </a:xfrm>
          <a:prstGeom prst="rect">
            <a:avLst/>
          </a:prstGeom>
          <a:solidFill>
            <a:srgbClr val="0B4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47B3"/>
                </a:solidFill>
                <a:latin typeface="微软雅黑" panose="020B0503020204020204" charset="-122"/>
                <a:ea typeface="微软雅黑" panose="020B0503020204020204" charset="-122"/>
              </a:rPr>
              <a:t>四个会疼的地方</a:t>
            </a:r>
            <a:endParaRPr sz="3000" b="1">
              <a:solidFill>
                <a:srgbClr val="0B47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941832"/>
            <a:ext cx="2980944" cy="0"/>
          </a:xfrm>
          <a:prstGeom prst="line">
            <a:avLst/>
          </a:prstGeom>
          <a:ln w="13970">
            <a:solidFill>
              <a:srgbClr val="0B47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76656" y="100584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RISKS  ·  先想好怎么退，才敢往前走</a:t>
            </a:r>
            <a:endParaRPr sz="85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63367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15 / 21</a:t>
            </a:r>
            <a:endParaRPr sz="100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44752"/>
          <a:ext cx="11064240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88920"/>
                <a:gridCol w="3063240"/>
                <a:gridCol w="521208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023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什么时候能看出来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023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怎么办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023FA1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量化后精度崩掉
mAP 掉一半以上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2027.02 量化预演阶段
PC 端就能看到逐层误差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先降输入分辨率（192→160），再减类别（≤3 类）；
仍不行就上量化感知训练，但那是备选不是首选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端侧帧率达不到 3 fps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2027.04 端侧推理阶段
首次跑通就能测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只对图像下半区 / ROI 推理；
或换成单阶段、无 NMS 的更小模型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四个置信度信号都没判别力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2027.05 三档模块单独测
画风险—覆盖率曲线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退回以帧间一致性为主；
创新点①降级为工程手段，答辩与论文里如实写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九个月做不完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每级里程碑的验收标准
不给过就不往下走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4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04.14 卡住就砍创新点③；
06.16 卡住就把「定向复核」降为「定时复核」</a:t>
                      </a:r>
                      <a:endParaRPr sz="94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047488"/>
            <a:ext cx="110642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8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这几条不是走过场。尤其第三条——如果测出来这套判据没用，我们会把结论照实写进结题报告，而不是换一套说法圆回去。</a:t>
            </a:r>
            <a:endParaRPr sz="98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12192000" cy="6912403"/>
          </a:xfrm>
          <a:prstGeom prst="rect">
            <a:avLst/>
          </a:prstGeom>
          <a:gradFill flip="none" rotWithShape="1">
            <a:gsLst>
              <a:gs pos="100000">
                <a:srgbClr val="0B47B3">
                  <a:alpha val="70000"/>
                </a:srgbClr>
              </a:gs>
              <a:gs pos="0">
                <a:srgbClr val="0B47B3">
                  <a:alpha val="95000"/>
                </a:srgbClr>
              </a:gs>
              <a:gs pos="69000">
                <a:srgbClr val="0B47B3"/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95219" y="1224329"/>
            <a:ext cx="5328592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700" dirty="0">
                <a:solidFill>
                  <a:prstClr val="white"/>
                </a:solidFill>
                <a:latin typeface="Arial Black" panose="020B0A04020102020204" pitchFamily="34" charset="0"/>
              </a:rPr>
              <a:t>04</a:t>
            </a:r>
            <a:endParaRPr lang="zh-CN" altLang="en-US" sz="28700" dirty="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6079784" y="2062596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预期成果</a:t>
            </a:r>
            <a:endParaRPr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6255757" y="3143336"/>
            <a:ext cx="3594498" cy="0"/>
          </a:xfrm>
          <a:prstGeom prst="lin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8" name="标题 4"/>
          <p:cNvSpPr txBox="1"/>
          <p:nvPr/>
        </p:nvSpPr>
        <p:spPr>
          <a:xfrm>
            <a:off x="6225638" y="3862063"/>
            <a:ext cx="4754488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能拿出手的四样东西
以及两件现在就该说清楚的事</a:t>
            </a:r>
            <a:endParaRPr sz="2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4244" y="5524140"/>
            <a:ext cx="29971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chemeClr val="bg1"/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耐劳苦，尚俭朴，勤学业，爱国家。</a:t>
            </a:r>
            <a:endParaRPr lang="zh-CN" altLang="en-US" sz="28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079" y="273779"/>
            <a:ext cx="2332026" cy="7359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4904"/>
            <a:ext cx="548640" cy="795528"/>
          </a:xfrm>
          <a:prstGeom prst="rect">
            <a:avLst/>
          </a:prstGeom>
          <a:solidFill>
            <a:srgbClr val="0B4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47B3"/>
                </a:solidFill>
                <a:latin typeface="微软雅黑" panose="020B0503020204020204" charset="-122"/>
                <a:ea typeface="微软雅黑" panose="020B0503020204020204" charset="-122"/>
              </a:rPr>
              <a:t>四样能拿出手的东西</a:t>
            </a:r>
            <a:endParaRPr sz="3000" b="1">
              <a:solidFill>
                <a:srgbClr val="0B47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941832"/>
            <a:ext cx="3785615" cy="0"/>
          </a:xfrm>
          <a:prstGeom prst="line">
            <a:avLst/>
          </a:prstGeom>
          <a:ln w="13970">
            <a:solidFill>
              <a:srgbClr val="0B47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76656" y="100584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DELIVERABLES  ·  以及两件现在就该说清楚的事</a:t>
            </a:r>
            <a:endParaRPr sz="85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63367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17 / 21</a:t>
            </a:r>
            <a:endParaRPr sz="100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2670048" cy="1938528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44752"/>
            <a:ext cx="2670048" cy="45720"/>
          </a:xfrm>
          <a:prstGeom prst="rect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591056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实物</a:t>
            </a:r>
            <a:endParaRPr sz="10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18470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一台能演示的车</a:t>
            </a:r>
            <a:endParaRPr sz="125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8096" y="2194560"/>
            <a:ext cx="22860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89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现有底盘 + H743 感知板，现场演示识别、避障和「不可信时降速复核」整套动作。</a:t>
            </a:r>
            <a:endParaRPr sz="89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01568" y="1444752"/>
            <a:ext cx="2670048" cy="1938528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444752"/>
            <a:ext cx="2670048" cy="45720"/>
          </a:xfrm>
          <a:prstGeom prst="rect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591056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源码</a:t>
            </a:r>
            <a:endParaRPr sz="10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02736" y="18470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一套可复现的仓库</a:t>
            </a:r>
            <a:endParaRPr sz="125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02736" y="2194560"/>
            <a:ext cx="22860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89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量化脚本、Cube.AI 工程、三档判定、帧间补位、测试数据与复现说明。目标是别人照着能跑出来。</a:t>
            </a:r>
            <a:endParaRPr sz="89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36208" y="1444752"/>
            <a:ext cx="2670048" cy="1938528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1444752"/>
            <a:ext cx="2670048" cy="45720"/>
          </a:xfrm>
          <a:prstGeom prst="rect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1591056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sz="100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37376" y="18470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一张实测数据表</a:t>
            </a:r>
            <a:endParaRPr sz="125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37376" y="2194560"/>
            <a:ext cx="22860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89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精度、帧率、内存、触发率、误动作率，以及满负荷推理下的功耗—温升—帧率包线。</a:t>
            </a:r>
            <a:endParaRPr sz="89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070848" y="1444752"/>
            <a:ext cx="2670048" cy="1938528"/>
          </a:xfrm>
          <a:prstGeom prst="rect">
            <a:avLst/>
          </a:prstGeom>
          <a:solidFill>
            <a:srgbClr val="FFFFFF"/>
          </a:solidFill>
          <a:ln w="1143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70848" y="1444752"/>
            <a:ext cx="2670048" cy="45720"/>
          </a:xfrm>
          <a:prstGeom prst="rect">
            <a:avLst/>
          </a:prstGeom>
          <a:solidFill>
            <a:srgbClr val="E8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1591056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8A81C"/>
                </a:solidFill>
                <a:latin typeface="微软雅黑" panose="020B0503020204020204" charset="-122"/>
                <a:ea typeface="微软雅黑" panose="020B0503020204020204" charset="-122"/>
              </a:rPr>
              <a:t>文字</a:t>
            </a:r>
            <a:endParaRPr sz="1000" b="1">
              <a:solidFill>
                <a:srgbClr val="E8A81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72016" y="18470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论文与专利</a:t>
            </a:r>
            <a:endParaRPr sz="125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72016" y="2194560"/>
            <a:ext cx="22860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89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中文期刊或会议论文 1 篇（目标）；发明专利申请 1 项，重点写「触发式定向复核」那条。</a:t>
            </a:r>
            <a:endParaRPr sz="89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66928" y="3602736"/>
            <a:ext cx="11064240" cy="1170432"/>
          </a:xfrm>
          <a:prstGeom prst="rect">
            <a:avLst/>
          </a:prstGeom>
          <a:solidFill>
            <a:srgbClr val="FD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602736"/>
            <a:ext cx="64008" cy="1170432"/>
          </a:xfrm>
          <a:prstGeom prst="rect">
            <a:avLst/>
          </a:prstGeom>
          <a:solidFill>
            <a:srgbClr val="E8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3675887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A6010"/>
                </a:solidFill>
                <a:latin typeface="微软雅黑" panose="020B0503020204020204" charset="-122"/>
                <a:ea typeface="微软雅黑" panose="020B0503020204020204" charset="-122"/>
              </a:rPr>
              <a:t>两件现在就该说清楚的事</a:t>
            </a:r>
            <a:endParaRPr sz="1050" b="1">
              <a:solidFill>
                <a:srgbClr val="8A601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1248" y="3968496"/>
            <a:ext cx="1056132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4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① 发明专利从申请到授权通常要 18–30 个月，九个月内我们最多拿到受理通知书，结题时不会说「专利已经授权」。</a:t>
            </a:r>
            <a:endParaRPr sz="94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2000"/>
              </a:lnSpc>
            </a:pPr>
            <a:r>
              <a:rPr sz="94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② 论文目标是中文期刊或本科生学术会议，不承诺 EI/SCI——按我们的时间和能力，这个预期才是诚实的。</a:t>
            </a:r>
            <a:endParaRPr sz="94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6928" y="495604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一句话总结交付：不是「一个能识别东西的小车」，是「一套在 4 fps 上还不出事的感知做法，连同它失败的可能」。</a:t>
            </a:r>
            <a:endParaRPr sz="105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12192000" cy="6912403"/>
          </a:xfrm>
          <a:prstGeom prst="rect">
            <a:avLst/>
          </a:prstGeom>
          <a:gradFill flip="none" rotWithShape="1">
            <a:gsLst>
              <a:gs pos="100000">
                <a:srgbClr val="0B47B3">
                  <a:alpha val="70000"/>
                </a:srgbClr>
              </a:gs>
              <a:gs pos="0">
                <a:srgbClr val="0B47B3">
                  <a:alpha val="95000"/>
                </a:srgbClr>
              </a:gs>
              <a:gs pos="69000">
                <a:srgbClr val="0B47B3"/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95219" y="1224329"/>
            <a:ext cx="5328592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700" dirty="0">
                <a:solidFill>
                  <a:prstClr val="white"/>
                </a:solidFill>
                <a:latin typeface="Arial Black" panose="020B0A04020102020204" pitchFamily="34" charset="0"/>
              </a:rPr>
              <a:t>05</a:t>
            </a:r>
            <a:endParaRPr lang="zh-CN" altLang="en-US" sz="28700" dirty="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6079784" y="2062596"/>
            <a:ext cx="5328592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团队与分工</a:t>
            </a:r>
            <a:endParaRPr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6255757" y="3143336"/>
            <a:ext cx="3594498" cy="0"/>
          </a:xfrm>
          <a:prstGeom prst="lin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headEnd type="oval" w="med" len="med"/>
            <a:tailEnd type="oval" w="med" len="med"/>
          </a:ln>
          <a:effectLst/>
        </p:spPr>
      </p:cxnSp>
      <p:sp>
        <p:nvSpPr>
          <p:cNvPr id="8" name="标题 4"/>
          <p:cNvSpPr txBox="1"/>
          <p:nvPr/>
        </p:nvSpPr>
        <p:spPr>
          <a:xfrm>
            <a:off x="6225638" y="3862063"/>
            <a:ext cx="4754488" cy="746593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四个人，四个专业，各自有真正能落地的活
没有人只挂名</a:t>
            </a:r>
            <a:endParaRPr sz="2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4244" y="5524140"/>
            <a:ext cx="29971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chemeClr val="bg1"/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耐劳苦，尚俭朴，勤学业，爱国家。</a:t>
            </a:r>
            <a:endParaRPr lang="zh-CN" altLang="en-US" sz="28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079" y="273779"/>
            <a:ext cx="2332026" cy="7359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4904"/>
            <a:ext cx="548640" cy="795528"/>
          </a:xfrm>
          <a:prstGeom prst="rect">
            <a:avLst/>
          </a:prstGeom>
          <a:solidFill>
            <a:srgbClr val="0B4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47B3"/>
                </a:solidFill>
                <a:latin typeface="微软雅黑" panose="020B0503020204020204" charset="-122"/>
                <a:ea typeface="微软雅黑" panose="020B0503020204020204" charset="-122"/>
              </a:rPr>
              <a:t>谁干什么</a:t>
            </a:r>
            <a:endParaRPr sz="3000" b="1">
              <a:solidFill>
                <a:srgbClr val="0B47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941832"/>
            <a:ext cx="1773936" cy="0"/>
          </a:xfrm>
          <a:prstGeom prst="line">
            <a:avLst/>
          </a:prstGeom>
          <a:ln w="13970">
            <a:solidFill>
              <a:srgbClr val="0B47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76656" y="100584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TEAM  ·  四个人四块，都对着自己的专业</a:t>
            </a:r>
            <a:endParaRPr sz="85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63367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19 / 21</a:t>
            </a:r>
            <a:endParaRPr sz="100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26464"/>
          <a:ext cx="11064239" cy="27066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85889"/>
                <a:gridCol w="1371209"/>
                <a:gridCol w="4302760"/>
                <a:gridCol w="3404381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成员</a:t>
                      </a:r>
                      <a:endParaRPr sz="9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023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专业方向</a:t>
                      </a:r>
                      <a:endParaRPr sz="9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023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负责模块</a:t>
                      </a:r>
                      <a:endParaRPr sz="9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023F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交付物</a:t>
                      </a:r>
                      <a:endParaRPr sz="9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023FA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陶家宇（队长）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计算机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系统架构、Cube.AI 部署链路、三档判定模块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全链路打通；论文主笔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李海洋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计算机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模型选型与量化、数据集采集标注、PC 端工具链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量化脚本、数据集、精度报告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徐熠冉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能源动力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电源与功耗、热稳态实测、续航与电池压降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功耗—温升—帧率包线数据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王紫怡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电气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电机驱动、编码器与 IMU 采集、板级硬件与联调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底盘联调、硬件原理说明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E8EF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刘  寄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指导教师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方向把关、工具链答疑、论文与专利指导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960" b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261104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进度（与系统内已提交的里程碑一致）</a:t>
            </a:r>
            <a:endParaRPr sz="1050" b="1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4590288"/>
            <a:ext cx="1463040" cy="548640"/>
          </a:xfrm>
          <a:prstGeom prst="rect">
            <a:avLst/>
          </a:prstGeom>
          <a:solidFill>
            <a:srgbClr val="023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4515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调研选型</a:t>
            </a:r>
            <a:endParaRPr sz="86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sz="86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11.30</a:t>
            </a:r>
            <a:endParaRPr sz="86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78608" y="4590288"/>
            <a:ext cx="1463040" cy="548640"/>
          </a:xfrm>
          <a:prstGeom prst="rect">
            <a:avLst/>
          </a:prstGeom>
          <a:solidFill>
            <a:srgbClr val="E9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464515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量化预演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02.19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34256" y="4590288"/>
            <a:ext cx="1463040" cy="548640"/>
          </a:xfrm>
          <a:prstGeom prst="rect">
            <a:avLst/>
          </a:prstGeom>
          <a:solidFill>
            <a:srgbClr val="E9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464515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端侧推理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04.14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89904" y="4590288"/>
            <a:ext cx="1463040" cy="548640"/>
          </a:xfrm>
          <a:prstGeom prst="rect">
            <a:avLst/>
          </a:prstGeom>
          <a:solidFill>
            <a:srgbClr val="E9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464515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融合联调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06.16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845552" y="4590288"/>
            <a:ext cx="1463040" cy="548640"/>
          </a:xfrm>
          <a:prstGeom prst="rect">
            <a:avLst/>
          </a:prstGeom>
          <a:solidFill>
            <a:srgbClr val="E9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464515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系统优化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07.15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601200" y="4590288"/>
            <a:ext cx="1463040" cy="548640"/>
          </a:xfrm>
          <a:prstGeom prst="rect">
            <a:avLst/>
          </a:prstGeom>
          <a:solidFill>
            <a:srgbClr val="E9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464515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结题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08.15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928" y="532180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4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分工的原则是：每个人手里都有一份能独立验收、能写进报告的东西。</a:t>
            </a:r>
            <a:endParaRPr sz="94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2000"/>
              </a:lnSpc>
            </a:pPr>
            <a:r>
              <a:rPr sz="94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尤其功耗—温升这一块不是「顺便测一下」——满负荷推理会让 H7 发热降频、18650 掉压复位，这条包线直接决定车能连续跑多久。</a:t>
            </a:r>
            <a:endParaRPr sz="94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4904"/>
            <a:ext cx="548640" cy="795528"/>
          </a:xfrm>
          <a:prstGeom prst="rect">
            <a:avLst/>
          </a:prstGeom>
          <a:solidFill>
            <a:srgbClr val="0B4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84124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47B3"/>
                </a:solidFill>
                <a:latin typeface="微软雅黑" panose="020B0503020204020204" charset="-122"/>
                <a:ea typeface="微软雅黑" panose="020B0503020204020204" charset="-122"/>
              </a:rPr>
              <a:t>参考文献</a:t>
            </a:r>
            <a:endParaRPr sz="3000" b="1">
              <a:solidFill>
                <a:srgbClr val="0B47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941832"/>
            <a:ext cx="1773936" cy="0"/>
          </a:xfrm>
          <a:prstGeom prst="line">
            <a:avLst/>
          </a:prstGeom>
          <a:ln w="13970">
            <a:solidFill>
              <a:srgbClr val="0B47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76656" y="100584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REFERENCES  ·  原文已归档在本项目的「参考文献原文」文件夹</a:t>
            </a:r>
            <a:endParaRPr sz="85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63367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20 / 21</a:t>
            </a:r>
            <a:endParaRPr sz="100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408176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[1]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1408176"/>
            <a:ext cx="50840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9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Lai L, Suda N, Chandra V. CMSIS-NN: Efficient Neural Network Kernels for Arm Cortex-M CPUs[EB/OL]. arXiv:1801.06601, 2018.</a:t>
            </a:r>
            <a:endParaRPr sz="79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2194560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[2]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194560"/>
            <a:ext cx="50840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9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Banbury C, Reddi V J, Torelli P, et al. MLPerf Tiny Benchmark[C]//NeurIPS Datasets and Benchmarks Track, 2021.</a:t>
            </a:r>
            <a:endParaRPr sz="79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2980944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[3]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6112" y="2980944"/>
            <a:ext cx="50840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9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Burrello A, Garofalo A, Bruschi N, et al. DORY: Automatic End-to-End Deployment of Real-World DNNs on Low-Cost IoT MCUs[J]. IEEE Trans. on Computers, 2021. doi:10.1109/TC.2021.3066883</a:t>
            </a:r>
            <a:endParaRPr sz="79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376732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[4]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6112" y="3767328"/>
            <a:ext cx="50840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9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Moosmann J, Müller H, Zimmerman N, et al. Flexible and Fully Quantized Lightweight TinyissimoYOLO for Ultra-Low-Power Edge Systems[J]. IEEE Access, 2024. doi:10.1109/ACCESS.2024.3404878</a:t>
            </a:r>
            <a:endParaRPr sz="79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928" y="4553712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[5]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6112" y="4553712"/>
            <a:ext cx="50840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9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Lin J, Zhu L, Chen W M, et al. Machine Learning for Microcontroller-Class Hardware: A Review[J]. IEEE Sensors Journal, 2022. arXiv:2205.14550</a:t>
            </a:r>
            <a:endParaRPr sz="79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" y="5340096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[6]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5340096"/>
            <a:ext cx="50840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9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Banbury C, Zhou C, Fedorov I, et al. MicroNets: Neural Network Architectures for Deploying TinyML Applications on Commodity Microcontrollers[C]//MLSys, 2021.</a:t>
            </a:r>
            <a:endParaRPr sz="79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36208" y="1408176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[7]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65392" y="1408176"/>
            <a:ext cx="50840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9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David R, Duke J, Jain A, et al. TensorFlow Lite Micro: Embedded Machine Learning on TinyML Systems[C]//MLSys, 2021.</a:t>
            </a:r>
            <a:endParaRPr sz="79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36208" y="2194560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[8]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65392" y="2194560"/>
            <a:ext cx="50840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9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Jacob B, Kligys S, Chen B, et al. Quantization and Training of Neural Networks for Efficient Integer-Arithmetic-Only Inference[C]//CVPR, 2018: 2704-2713.</a:t>
            </a:r>
            <a:endParaRPr sz="79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36208" y="2980944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[9]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65392" y="2980944"/>
            <a:ext cx="50840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9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Geifman Y, El-Yaniv R. Selective Classification for Deep Neural Networks[C]//NeurIPS, 2017.</a:t>
            </a:r>
            <a:endParaRPr sz="79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36208" y="376732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[10]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65392" y="3767328"/>
            <a:ext cx="50840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9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Guo C, Pleiss G, Sun Y, et al. On Calibration of Modern Neural Networks[C]//ICML, 2017: 1321-1330.</a:t>
            </a:r>
            <a:endParaRPr sz="79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36208" y="4553712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[11]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65392" y="4553712"/>
            <a:ext cx="50840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9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马官正. 面向嵌入式设备的轻量级目标检测算法综述[J]. 无线互联科技, 2026(12).</a:t>
            </a:r>
            <a:endParaRPr sz="79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36208" y="5340096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023FA1"/>
                </a:solidFill>
                <a:latin typeface="微软雅黑" panose="020B0503020204020204" charset="-122"/>
                <a:ea typeface="微软雅黑" panose="020B0503020204020204" charset="-122"/>
              </a:rPr>
              <a:t>[12]</a:t>
            </a:r>
            <a:endParaRPr sz="860" b="1">
              <a:solidFill>
                <a:srgbClr val="023F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65392" y="5340096"/>
            <a:ext cx="50840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9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邓  览. 基于深度学习的轻量化目标检测模型综述[J]. 信息技术与信息化, 2026(6): 170-173.</a:t>
            </a:r>
            <a:endParaRPr sz="79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6928" y="608990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0" b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开源与官方资料：STMicroelectronics/stm32ai-modelzoo · RangiLyu/nanodet · Flora233333/Deploy-SSD-ON-STM32 · ST Wiki「STM32Cube.AI model performances」</a:t>
            </a:r>
            <a:endParaRPr sz="820" b="0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12192000" cy="6872068"/>
          </a:xfrm>
          <a:prstGeom prst="rect">
            <a:avLst/>
          </a:prstGeom>
          <a:solidFill>
            <a:srgbClr val="0B47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90314" y="-165865"/>
            <a:ext cx="7189729" cy="71897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165945" y="-758386"/>
            <a:ext cx="5786253" cy="5786253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703512" y="4869160"/>
            <a:ext cx="8659688" cy="1001454"/>
            <a:chOff x="1703512" y="4869160"/>
            <a:chExt cx="8659688" cy="1001454"/>
          </a:xfrm>
        </p:grpSpPr>
        <p:grpSp>
          <p:nvGrpSpPr>
            <p:cNvPr id="9" name="组合 8"/>
            <p:cNvGrpSpPr/>
            <p:nvPr/>
          </p:nvGrpSpPr>
          <p:grpSpPr>
            <a:xfrm>
              <a:off x="3832857" y="5041679"/>
              <a:ext cx="4526280" cy="828935"/>
              <a:chOff x="3832857" y="5247314"/>
              <a:chExt cx="4526280" cy="828935"/>
            </a:xfrm>
          </p:grpSpPr>
          <p:sp>
            <p:nvSpPr>
              <p:cNvPr id="16" name="文本框 18"/>
              <p:cNvSpPr txBox="1">
                <a:spLocks noChangeArrowheads="1"/>
              </p:cNvSpPr>
              <p:nvPr/>
            </p:nvSpPr>
            <p:spPr bwMode="auto">
              <a:xfrm>
                <a:off x="5067509" y="5676139"/>
                <a:ext cx="205697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sz="1800" b="1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指导老师：刘  寄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7" name="文本框 16"/>
              <p:cNvSpPr txBox="1">
                <a:spLocks noChangeArrowheads="1"/>
              </p:cNvSpPr>
              <p:nvPr/>
            </p:nvSpPr>
            <p:spPr bwMode="auto">
              <a:xfrm>
                <a:off x="3832857" y="5247314"/>
                <a:ext cx="4526280" cy="368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sz="1800" b="1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答辩人：</a:t>
                </a:r>
                <a:r>
                  <a:rPr b="1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陶家宇</a:t>
                </a:r>
                <a:r>
                  <a:rPr lang="zh-CN" b="1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，王紫怡，李海洋，徐熠冉</a:t>
                </a:r>
                <a:endParaRPr sz="18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703512" y="4869160"/>
              <a:ext cx="8659688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540" y="1067195"/>
            <a:ext cx="3846786" cy="1145649"/>
          </a:xfrm>
          <a:prstGeom prst="rect">
            <a:avLst/>
          </a:prstGeom>
        </p:spPr>
      </p:pic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311607" y="2829519"/>
            <a:ext cx="11568608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8000" b="1" i="1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敬请各位专家批评指正</a:t>
            </a:r>
            <a:endParaRPr kumimoji="0" lang="zh-CN" altLang="en-US" sz="8000" b="1" i="1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7477</Words>
  <Application>WPS 演示</Application>
  <PresentationFormat>宽屏</PresentationFormat>
  <Paragraphs>785</Paragraphs>
  <Slides>21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Arial</vt:lpstr>
      <vt:lpstr>宋体</vt:lpstr>
      <vt:lpstr>Wingdings</vt:lpstr>
      <vt:lpstr>华文行楷</vt:lpstr>
      <vt:lpstr>Calibri</vt:lpstr>
      <vt:lpstr>Calibri</vt:lpstr>
      <vt:lpstr>微软雅黑</vt:lpstr>
      <vt:lpstr>Arial</vt:lpstr>
      <vt:lpstr>Calibri Light</vt:lpstr>
      <vt:lpstr>方正宋刻本秀楷简体</vt:lpstr>
      <vt:lpstr>Arial Black</vt:lpstr>
      <vt:lpstr>Arial Unicode MS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Peach</cp:lastModifiedBy>
  <cp:revision>40</cp:revision>
  <dcterms:created xsi:type="dcterms:W3CDTF">2020-07-27T06:27:00Z</dcterms:created>
  <dcterms:modified xsi:type="dcterms:W3CDTF">2026-10-20T04:45:59Z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AF0C876435AC4DEF8E05010F1BA5F0D6_13</vt:lpwstr>
  </property>
  <property fmtid="{D5CDD505-2E9C-101B-9397-08002B2CF9AE}" pid="3" name="KSOProductBuildVer">
    <vt:lpwstr>2052-12.1.0.29161</vt:lpwstr>
  </property>
</Properties>
</file>
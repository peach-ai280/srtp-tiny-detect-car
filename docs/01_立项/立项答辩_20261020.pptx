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77" r:id="rId3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8" r:id="rId25"/>
    <p:sldId id="397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0" d="100"/>
          <a:sy n="80" d="100"/>
        </p:scale>
        <p:origin x="135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Relationship Id="rId25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CB326D-D6FE-401C-B0F9-9894D72F7CE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40642-3370-4264-BB43-85B90726D1B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各位老师好，我是计算机学院2026级的陶家宇。题目是系统里已经提交的那个，我今天讲三件事：为什么做、我们和别人不一样在哪、九个月能做出什么。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五个部分。前面两块是重点：为什么选这个题，创新点到底新在哪。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先看三个数。ST 官方在 H735 上跑 SSD-MobileNet，纯推理 105.8 毫秒；国内一个开源的 H743 复现做到端到端 240 毫秒，4 到 5 帧；ETH 那篇 TinyissimoYOLO 在 H7A3 上要 359 毫秒。三个数都在同一个量级：一百到三百毫秒。</a:t>
            </a:r>
          </a:p>
          <a:p>
            <a:r>
              <a:t>这意味着什么？车走 0.3 米每秒，240 毫秒就是 7.2 厘米，比物料盒还宽。所以我们不是要证明「能跑」，是要解决「跑得慢还不出事」。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我把现有工作分成三块。工具链早就齐了；模型压缩压到极限了，NanoDet 的 int8 版 980K，正好卡在 1M Flash 上；可不可靠这一块，云端很成熟，但落到单片机上才刚起步，而且大家做到「给一个分数」就停了，没人说这个分数该触发什么动作。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下面是我们想做的三个点。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三个点是一条线：先让模型知道自己这一帧不可靠，再决定要不要问别的传感器，最后在不确信的空档里用运动学把位置补上。第四项功耗温升是队友做的实测，不算创新点，但是证据。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第一个点，让模型自己说这一帧可不可信。我们只用四个推理过程中本来就有的量：top1 减 top2 的间隔、量化饱和率、帧间一致性，熵做对照组。</a:t>
            </a:r>
          </a:p>
          <a:p>
            <a:r>
              <a:t>我最看重第二个——量化饱和率，就是有多少激活被截到 int8 的边界上。这是量化模型独有的信号，浮点模型里没有，我查到的文献里没人拿它当检测任务的可信度判据。</a:t>
            </a:r>
          </a:p>
          <a:p>
            <a:r>
              <a:t>输出三档。请老师注意：这是假设，验证方法是画风险—覆盖率曲线，测出来没用我们会如实写。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第二个点。现在的做法不管视觉可不可信，每帧都融合、按权重平均——问题是视觉判断错的时候，超声的正确读数会被平均值一起带偏。</a:t>
            </a:r>
          </a:p>
          <a:p>
            <a:r>
              <a:t>我们反过来：超声平时睡觉，只有模型说不确定的时候才把它叫起来，对着框那个方位测三次，当第二个证人。</a:t>
            </a:r>
          </a:p>
          <a:p>
            <a:r>
              <a:t>代价是可能漏触发，所以右边这三件事必须验证，任何一条不成立这个点就废。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第三个点。检测 4 帧，控制 100 赫兹。您看这条带子，每 240 毫秒才有一格是真的新数据，其余 23 次控制拿到的都是推演出来的位置。</a:t>
            </a:r>
          </a:p>
          <a:p>
            <a:r>
              <a:t>不补会怎样？等于给控制环加了一个固定相位滞后，车会画龙。</a:t>
            </a:r>
          </a:p>
          <a:p>
            <a:r>
              <a:t>我不敢说这是方法创新，高频惯性补低频视觉是成熟常识，我们的价值是把它在几十 KB 内存里做到能用，并且把收益量出来。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表是我最想给老师看的一页。前六行是「能跑」，早就有人做了；后两行是「知道不可靠」，但都停在拒识，而且基本是分类任务。右下角这一格——检测任务、三档、真正触发一个动作、在闭环里评价——是我们站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下面是具体怎么走。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六个里程碑，时间点跟系统里填报的一致。每一级都有明确的验收标准。尤其是 4 月 14 号端侧推理这一关，跑不通我们就砍掉第三个创新点保前两个——这条现在写清楚，免得到时候硬撑。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硬件这块说明一下：我们买的不是开发板，是核心板。选 H743 而不是更便宜的 H750，只有一个原因——H750 内部 Flash 只有 128K，而模型权重就要 277K，必须外挂 QSPI 还要改启动链路。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风险列了四条，重点看第三条：如果四个信号都没判别力，这个创新点就不成立。我们的处理是退回到帧间一致性为主，并且如实写进结题报告，不换说法圆回去。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第四块，成果。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成果四样：实物、源码、数据、文字。下面这两句我想提前说清楚：发明专利九个月内只能到受理，结题时我不会说已经授权；论文目标是中文期刊或本科生会议，不承诺 EI。把预期说低一点，比到时候解释要容易。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最后是人和分工。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四个人四块，都对着自己的专业。特别是徐熠冉这块——功耗温升不是顺便测一下，满负荷推理会让 H7 发热降频、电池掉压复位，这条包线直接决定车能连续跑多久。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文献都在这里面。第 2、3、4 条是给我最大支撑的三个数：MLPerf Tiny 说明基准只测精度延迟能耗，DORY 说明 H7 上 MobileNet-128 也就 4.3 帧，TinyissimoYOLO 给了 H7 上 359 毫秒这个数。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我的汇报到这里，请老师提问。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608" y="269988"/>
            <a:ext cx="2369808" cy="705776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387507" y="6373482"/>
            <a:ext cx="34534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 尚俭朴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勤学业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爱国家</a:t>
            </a:r>
            <a:endParaRPr lang="zh-CN" altLang="en-US" sz="2000" dirty="0">
              <a:solidFill>
                <a:schemeClr val="bg1">
                  <a:lumMod val="75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alphaModFix amt="20000"/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68058" y="2605775"/>
            <a:ext cx="11855877" cy="2263385"/>
            <a:chOff x="168058" y="2605775"/>
            <a:chExt cx="11855877" cy="2263385"/>
          </a:xfrm>
        </p:grpSpPr>
        <p:sp>
          <p:nvSpPr>
            <p:cNvPr id="10" name="Rectangle 15"/>
            <p:cNvSpPr>
              <a:spLocks noChangeArrowheads="1"/>
            </p:cNvSpPr>
            <p:nvPr/>
          </p:nvSpPr>
          <p:spPr bwMode="auto">
            <a:xfrm>
              <a:off x="168058" y="2605775"/>
              <a:ext cx="11855877" cy="21236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4400" b="1">
                  <a:solidFill>
                    <a:srgbClr val="FFFFFF"/>
                  </a:solidFill>
                  <a:latin typeface="微软雅黑" panose="020B0503020204020204" charset="-122"/>
                </a:rPr>
                <a:t>基于STM32的轻量化目标检测小车</a:t>
              </a:r>
              <a:endParaRPr kumimoji="0" lang="en-US" altLang="zh-CN" sz="6600" b="1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2800" b="1">
                  <a:solidFill>
                    <a:srgbClr val="FFFFFF"/>
                  </a:solidFill>
                  <a:latin typeface="微软雅黑" panose="020B0503020204020204" charset="-122"/>
                </a:rPr>
                <a:t>算力受限下的「可信感知」</a:t>
              </a:r>
              <a:endParaRPr sz="2800" b="1">
                <a:solidFill>
                  <a:srgbClr val="FFFFFF"/>
                </a:solidFill>
                <a:latin typeface="微软雅黑" panose="020B0503020204020204" charset="-122"/>
              </a:endParaRPr>
            </a:p>
            <a:p>
              <a:pPr algn="ctr"/>
              <a:r>
                <a:rPr sz="1900">
                  <a:solidFill>
                    <a:srgbClr val="CFDDF5"/>
                  </a:solidFill>
                  <a:latin typeface="微软雅黑" panose="020B0503020204020204" charset="-122"/>
                </a:rPr>
                <a:t>置信度分级  ·  定向复核  ·  帧间补位</a:t>
              </a:r>
              <a:endParaRPr sz="1900">
                <a:solidFill>
                  <a:srgbClr val="CFDDF5"/>
                </a:solidFill>
                <a:latin typeface="微软雅黑" panose="020B0503020204020204" charset="-122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921" y="1152915"/>
            <a:ext cx="3846786" cy="1145649"/>
          </a:xfrm>
          <a:prstGeom prst="rect">
            <a:avLst/>
          </a:prstGeom>
        </p:spPr>
      </p:pic>
      <p:sp>
        <p:nvSpPr>
          <p:cNvPr id="2" name="文本框 18"/>
          <p:cNvSpPr txBox="1">
            <a:spLocks noChangeArrowheads="1"/>
          </p:cNvSpPr>
          <p:nvPr/>
        </p:nvSpPr>
        <p:spPr bwMode="auto">
          <a:xfrm>
            <a:off x="4682788" y="5505030"/>
            <a:ext cx="282641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指导老师：刘  寄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>
            <a:spLocks noChangeArrowheads="1"/>
          </p:cNvSpPr>
          <p:nvPr/>
        </p:nvSpPr>
        <p:spPr bwMode="auto">
          <a:xfrm>
            <a:off x="3770216" y="5087709"/>
            <a:ext cx="452628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答辩人：陶家宇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，王紫怡，李海洋，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徐熠冉</a:t>
            </a:r>
            <a:endParaRPr lang="zh-CN"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43000">
                <a:srgbClr val="0B47B3">
                  <a:alpha val="88000"/>
                </a:srgbClr>
              </a:gs>
              <a:gs pos="0">
                <a:srgbClr val="0B47B3">
                  <a:alpha val="95000"/>
                </a:srgbClr>
              </a:gs>
              <a:gs pos="100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椭圆 4"/>
          <p:cNvSpPr/>
          <p:nvPr/>
        </p:nvSpPr>
        <p:spPr>
          <a:xfrm>
            <a:off x="-935644" y="-11216520"/>
            <a:ext cx="13681520" cy="13681520"/>
          </a:xfrm>
          <a:prstGeom prst="ellipse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804174" y="116632"/>
            <a:ext cx="2583652" cy="1355945"/>
            <a:chOff x="4804174" y="116632"/>
            <a:chExt cx="2583652" cy="1355945"/>
          </a:xfrm>
        </p:grpSpPr>
        <p:sp>
          <p:nvSpPr>
            <p:cNvPr id="7" name="文本框 6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04174" y="1010912"/>
              <a:ext cx="258365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en-US" altLang="zh-CN" sz="2400" b="1" kern="0" dirty="0">
                  <a:solidFill>
                    <a:srgbClr val="1C55C9"/>
                  </a:solidFill>
                  <a:latin typeface="Arial" panose="020B0604020202020204"/>
                  <a:ea typeface="微软雅黑" panose="020B0503020204020204" charset="-122"/>
                  <a:sym typeface="Calibri" panose="020F0502020204030204" pitchFamily="34" charset="0"/>
                </a:rPr>
                <a:t>CONTENTS</a:t>
              </a:r>
              <a:endParaRPr lang="en-US" altLang="zh-CN" sz="2400" b="1" kern="0" dirty="0">
                <a:solidFill>
                  <a:srgbClr val="1C55C9"/>
                </a:solidFill>
                <a:latin typeface="Arial" panose="020B0604020202020204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sp>
          <p:nvSpPr>
            <p:cNvPr id="8" name="文本框 7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90870" y="116632"/>
              <a:ext cx="2410259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zh-CN" altLang="en-US" sz="54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  <a:sym typeface="Calibri" panose="020F0502020204030204" pitchFamily="34" charset="0"/>
                </a:rPr>
                <a:t>目 录</a:t>
              </a:r>
              <a:endParaRPr lang="en-US" altLang="zh-CN" sz="54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5245727" y="1010912"/>
              <a:ext cx="1699856" cy="0"/>
            </a:xfrm>
            <a:prstGeom prst="line">
              <a:avLst/>
            </a:prstGeom>
            <a:noFill/>
            <a:ln w="38100" cap="flat" cmpd="sng" algn="ctr">
              <a:solidFill>
                <a:srgbClr val="1C55C9"/>
              </a:solidFill>
              <a:prstDash val="solid"/>
            </a:ln>
            <a:effectLst/>
          </p:spPr>
        </p:cxnSp>
      </p:grpSp>
      <p:grpSp>
        <p:nvGrpSpPr>
          <p:cNvPr id="10" name="组合 9"/>
          <p:cNvGrpSpPr/>
          <p:nvPr/>
        </p:nvGrpSpPr>
        <p:grpSpPr>
          <a:xfrm>
            <a:off x="1115530" y="2564904"/>
            <a:ext cx="10309062" cy="3146107"/>
            <a:chOff x="1055440" y="2996952"/>
            <a:chExt cx="10309062" cy="3146107"/>
          </a:xfrm>
        </p:grpSpPr>
        <p:grpSp>
          <p:nvGrpSpPr>
            <p:cNvPr id="11" name="组合 10"/>
            <p:cNvGrpSpPr/>
            <p:nvPr/>
          </p:nvGrpSpPr>
          <p:grpSpPr>
            <a:xfrm>
              <a:off x="1055440" y="2996952"/>
              <a:ext cx="10309062" cy="3146107"/>
              <a:chOff x="1055440" y="2996952"/>
              <a:chExt cx="10309062" cy="3146107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1055440" y="2996952"/>
                <a:ext cx="4143251" cy="884773"/>
                <a:chOff x="856120" y="2669246"/>
                <a:chExt cx="4143251" cy="884773"/>
              </a:xfrm>
            </p:grpSpPr>
            <p:sp>
              <p:nvSpPr>
                <p:cNvPr id="32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选题依据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3" name="矩形 32"/>
                <p:cNvSpPr/>
                <p:nvPr/>
              </p:nvSpPr>
              <p:spPr>
                <a:xfrm>
                  <a:off x="1705521" y="3184687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WHY THIS TOPIC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4" name="椭圆 33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1055440" y="4106650"/>
                <a:ext cx="4081138" cy="845400"/>
                <a:chOff x="856120" y="2669246"/>
                <a:chExt cx="4081138" cy="845400"/>
              </a:xfrm>
            </p:grpSpPr>
            <p:sp>
              <p:nvSpPr>
                <p:cNvPr id="29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805576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创新点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0" name="矩形 29"/>
                <p:cNvSpPr/>
                <p:nvPr/>
              </p:nvSpPr>
              <p:spPr>
                <a:xfrm>
                  <a:off x="1643408" y="314531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IS NEW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2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1055440" y="5274230"/>
                <a:ext cx="4081138" cy="868829"/>
                <a:chOff x="856120" y="2669246"/>
                <a:chExt cx="4081138" cy="868829"/>
              </a:xfrm>
            </p:grpSpPr>
            <p:sp>
              <p:nvSpPr>
                <p:cNvPr id="26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技术路线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>
                  <a:off x="1643408" y="3168743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HOW WE BUILD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8" name="椭圆 27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3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176120" y="2996952"/>
                <a:ext cx="4188382" cy="875751"/>
                <a:chOff x="812733" y="2669246"/>
                <a:chExt cx="4188382" cy="875751"/>
              </a:xfrm>
            </p:grpSpPr>
            <p:sp>
              <p:nvSpPr>
                <p:cNvPr id="23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预期成果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>
                  <a:off x="1707265" y="3175665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WE GET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5" name="椭圆 24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4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7176277" y="4164081"/>
                <a:ext cx="4143680" cy="858950"/>
                <a:chOff x="812733" y="2669246"/>
                <a:chExt cx="4143680" cy="858950"/>
              </a:xfrm>
            </p:grpSpPr>
            <p:sp>
              <p:nvSpPr>
                <p:cNvPr id="20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团队分工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1662563" y="315886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WHO DOES WHAT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2" name="椭圆 21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sp>
          <p:nvSpPr>
            <p:cNvPr id="12" name="文本框 6"/>
            <p:cNvSpPr txBox="1">
              <a:spLocks noChangeArrowheads="1"/>
            </p:cNvSpPr>
            <p:nvPr/>
          </p:nvSpPr>
          <p:spPr bwMode="auto">
            <a:xfrm>
              <a:off x="8025092" y="5221552"/>
              <a:ext cx="269817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9pPr>
            </a:lstStyle>
            <a:p>
              <a:pPr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20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参考文献</a:t>
              </a:r>
              <a:endPara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8025521" y="5711170"/>
              <a:ext cx="329385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850" b="0">
                  <a:solidFill>
                    <a:srgbClr val="ADC3E6"/>
                  </a:solidFill>
                  <a:latin typeface="微软雅黑" panose="020B0503020204020204" charset="-122"/>
                  <a:ea typeface="微软雅黑" panose="020B0503020204020204" charset="-122"/>
                </a:rPr>
                <a:t>REFERENCES</a:t>
              </a:r>
              <a:endParaRPr sz="850" b="0">
                <a:solidFill>
                  <a:srgbClr val="ADC3E6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7175691" y="5252948"/>
              <a:ext cx="722490" cy="72249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23FA1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<a:noAutofit/>
            </a:bodyPr>
            <a:lstStyle/>
            <a:p>
              <a:pPr algn="ctr" defTabSz="914400">
                <a:defRPr/>
              </a:pPr>
              <a:r>
                <a:rPr lang="en-US" altLang="zh-CN" sz="32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</a:rPr>
                <a:t>6</a:t>
              </a:r>
              <a:endParaRPr lang="zh-CN" altLang="en-US" sz="32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01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选题依据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从「能不能在 MCU 上跑检测」，
到「跑不准的时候怎么办」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一帧的代价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THE COST OF ONE FRAME  ·  三个独立来源给出的同一个量级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04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ST 官方实测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105.8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66644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STM32H735 @550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SSD-MobileNetV1-0.25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192×192，INT8，纯推理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40740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开源复现，端到端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4515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1159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STM32H743 + OV5640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mAP 31.8%，约 4–5 FPS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推理本体约 235 ms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4788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4788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学术基准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359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75207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STM32H7A3 @192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最小检测网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IEEE Access 2024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3858768"/>
            <a:ext cx="11064240" cy="93268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986784"/>
            <a:ext cx="42062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0.3 m/s × 240 ms = 7.2 cm</a:t>
            </a:r>
            <a:endParaRPr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468112" y="3986784"/>
            <a:ext cx="59436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车以 0.3 m/s 行进时，一帧检测的 240 ms 里车身已前移 7.2 cm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——比一个物料盒（约 5 cm）还宽。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66928" y="502920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所以真正的问题不是「MCU 能不能跑目标检测」——能，三个来源都证明了。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问题是：在 4 FPS 的感知下，一台会动的车怎么才不出事。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已有工作的三条边界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BOUNDARIES  ·  我们该在哪里做贡献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05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1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60934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工具链：已经不缺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60520" y="1636776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Cube.AI、TFLite Micro、CMSIS-NN、DORY、MicroNets —— 从训练到部署的自动链路是齐的。CMSIS-NN 相比朴素实现吞吐 4.6×、能效 4.9×。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85632" y="1636776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部署本身不再是问题，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我们不在这条线上做贡献。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2834639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39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443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25880" y="292607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模型：已经压到极限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60520" y="2953511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把检测网压到百万参数以内；NanoDet-Plus 的 int8 版本 980 KB，已经贴着 1 MB Flash 走。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85632" y="2953511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9 个月、大一团队去改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网络结构，投入产出比不成立。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66928" y="4151375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151375"/>
            <a:ext cx="64008" cy="1207008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4261103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5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4242815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可靠性：才刚起步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60520" y="4270247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「模型知道自己不确定」在云端是成熟方向（选择性分类、模型校准，2017 年起）；MCU 上到 2026 年才出现 TrustTiny-HAR 这类工作，且都停在「给一个分数、做拒识」。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4270247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这是空白所在，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也是我们能做的地方。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5760720"/>
            <a:ext cx="11064240" cy="493776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760720"/>
            <a:ext cx="64008" cy="493776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33872"/>
            <a:ext cx="106070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空白不在前两条，在第三条的最后一公里：分数出来了，车该做什么？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02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创新点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三个点，都落在「感知不可靠」这一侧
不改网络结构，不加第二块芯片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三个创新点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IDEAS  ·  同一件事的三个侧面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07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①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1247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让模型说出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这一帧靠不靠得住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帧级错误指示器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41247" y="3456432"/>
            <a:ext cx="3008377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1247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把推理过程本来就会产生的几个量凑成一个判据，输出可用 / 存疑 / 弃用三档。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不训练新模型，不加分支。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89120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3440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②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63440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由模型决定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触发式定向复核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4663440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3440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不是每帧加权融合，只在不确信时唤醒超声、对准检测框方位复核。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把融合的「权重」换成融合的「时机」。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11311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85632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③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85632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 fps 的感知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驱动 100 Hz 的控制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帧间运动学补位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485632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85632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两帧之间用陀螺和编码器把旧框推演到当前时刻，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让控制环看到连续目标，而不是跳变的框。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4956048"/>
            <a:ext cx="11073384" cy="78638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56048"/>
            <a:ext cx="64008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还有一项不算创新点：满负荷推理下的功耗—温升—帧率实测包线。它是证据不是主张，放在结题报告的实测章节。</a:t>
            </a:r>
            <a:endParaRPr sz="11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帧级可信度判定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01  ·  FRAME-LEVEL CONFIDENCE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08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核心一句话：让模型自己说，这一帧靠不靠得住。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394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四个几乎不要钱的信号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S1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top1 − top2 间隔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INT8 域直接相减，不反量化、不跑 exp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35584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S2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量化饱和率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3872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被 clamp 到 ±127 的激活占比——量化模型独有的失效信号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S3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帧间一致性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980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相邻帧框的 IoU，与 IMU 预测位移的残差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584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S4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3872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输出熵（对照组）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3872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LUT + 整数移位做定点近似，用来判断有没有必要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53328" y="1609344"/>
            <a:ext cx="5577840" cy="2926080"/>
          </a:xfrm>
          <a:prstGeom prst="rect">
            <a:avLst/>
          </a:prstGeom>
          <a:solidFill>
            <a:srgbClr val="F7F9FD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719072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输出：三档判定 + 一个时间戳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272784" y="204825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W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6772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可用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67728" y="234086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决策层正常使用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6272784" y="2688336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8346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U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967728" y="28437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存疑</a:t>
            </a:r>
            <a:endParaRPr sz="13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67728" y="31272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降速，交给下一环复核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6272784" y="3474720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272784" y="362102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R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67728" y="36301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弃用</a:t>
            </a:r>
            <a:endParaRPr sz="135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67728" y="391363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不参与决策，转反应式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053328" y="4590288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这些量都来自推理过程本身：不新增网络分支，不新增第二个模型，内存增量在个位数 KB。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66928" y="5138928"/>
            <a:ext cx="11064240" cy="64008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12080"/>
            <a:ext cx="26517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要证的指标（目标值）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749039" y="5212080"/>
            <a:ext cx="7680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错误帧召回 ≥ 70%   ·   存疑档触发率 ≤ 30%   ·   定点版相对浮点版判别力损失 ≤ 5 个点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6928" y="5888736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这是假设不是结论。四个信号要都没判别力，我们就如实写「这条路走不通」——那本身也是一份能发表的结果。</a:t>
            </a:r>
            <a:endParaRPr sz="96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02  ·  WHEN TO FUSE, NOT HOW TO WEIGH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09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核心一句话：融合的不是权重，是时机。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700784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两种融合理念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75104"/>
            <a:ext cx="5138928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6654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通行做法：每帧加权融合</a:t>
            </a:r>
            <a:endParaRPr sz="122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" y="2377440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超声与视觉按固定权重平均，或按场景切换权重。代价恒定：视觉判断错的时候，超声的正确读数会被平均值一起带偏。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5138928" cy="1225296"/>
          </a:xfrm>
          <a:prstGeom prst="rect">
            <a:avLst/>
          </a:prstGeom>
          <a:solidFill>
            <a:srgbClr val="F6F9FF"/>
          </a:solidFill>
          <a:ln w="1651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41985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我们的做法：把「权重」换成「时机」</a:t>
            </a:r>
            <a:endParaRPr sz="12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6384" y="3730752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超声平时休眠。只有模型报「存疑」时才唤醒它，对准检测框方位测三次，把它当第二个证人，而不是参与平均的一个分量。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53328" y="17007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三档对应的三个动作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53328" y="1975104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3328" y="1975104"/>
            <a:ext cx="54864" cy="78638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48256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W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9984" y="2039112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正常速度前行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29984" y="234086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超声休眠，只有视觉在工作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53328" y="2871216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3328" y="2871216"/>
            <a:ext cx="54864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2944368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U</a:t>
            </a:r>
            <a:endParaRPr sz="14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29984" y="293522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降速 50%，定向复核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729984" y="32369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框方位 ±30° 内测距 3 次，两证人一致才通过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053328" y="3767328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53328" y="3767328"/>
            <a:ext cx="5486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3840480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R</a:t>
            </a:r>
            <a:endParaRPr sz="140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9984" y="383133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停车 / 反应式避障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29984" y="41330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视觉退出决策，超声波主导，慢速试探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66928" y="4773168"/>
            <a:ext cx="11064240" cy="96926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773168"/>
            <a:ext cx="64008" cy="96926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84632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必须证伪的三件事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41248" y="5120640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触发不能太频繁：存疑档占比 ≤ 30%，否则总时延反而变大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不能拿安全换时间：W 档的漏检率不得高于全帧融合    ③ 真能降错：视觉误检场景下，误动作率相对单视觉基线下降 ≥ 50%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" y="5870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评价指标因此换掉：不比 mAP，比误动作率、漏检代价、平均决策时延。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两帧之间怎么补上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383280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03  ·  BETWEEN THE FRAMES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10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核心一句话：4 fps 的感知，要让 100 Hz 的控制觉得自己一直在看。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8249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检测帧  4 fps（每 240 ms 一帧）</a:t>
            </a:r>
            <a:endParaRPr sz="9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23444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83794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269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4169663" y="2139696"/>
            <a:ext cx="1691641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9788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441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480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50138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4613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720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83310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6132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7785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960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234440" y="2834640"/>
            <a:ext cx="9893808" cy="310896"/>
          </a:xfrm>
          <a:prstGeom prst="rect">
            <a:avLst/>
          </a:prstGeom>
          <a:solidFill>
            <a:srgbClr val="E4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3258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5407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556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7053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8541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0029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1518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006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4495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5983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7471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68960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90448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1193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3425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4914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6402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7890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379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0867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2356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3844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5332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6821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8309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979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9128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1277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4263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5751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7240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98728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20216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41705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63193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84682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06170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27658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4914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0635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92123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13612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35100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6589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78077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99565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1790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84962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18134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1306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084478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6928" y="3218688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控制环 100 Hz：每 240 ms 更新 24 次，只有 1 次拿到新检测</a:t>
            </a:r>
            <a:endParaRPr sz="9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766560" y="3218688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其余 23 次，位置靠陀螺 + 编码器推演</a:t>
            </a:r>
            <a:endParaRPr sz="96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56692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为什么非补不可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8638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 240 ms 前的旧框直接喂给 PID，等于给控制环加了固定相位滞后——车会画龙、过冲、在障碍前反复修正。这是控制里的常识，但在五十块钱的四轮小车上没人认真处理。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3620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5566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怎么证明它有用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645566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同一段避障路线跑 20 次，只切换「补位开 / 关」一个变量，比两个数：轨迹最大横向偏差、电机指令差分的 RMS。两条曲线应该能明显分开。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66928" y="4956048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6384" y="5010912"/>
            <a:ext cx="106984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平面 3-DoF 推演：p(t) = p(t₀) + R(Δθ)·v·Δt        不确定度随时间增长：σ(t) = σ₀ + k·Δt（不做卡尔曼，只做显式线性增长，好解释也好调）</a:t>
            </a:r>
            <a:endParaRPr sz="94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6"/>
            <a:ext cx="1106424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定位说明：这一条是工程创新，不是方法创新——高频惯性 + 低频视觉是成熟常识。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我们的价值在于把它在定点运算、几十 KB RAM、没有浮点余量的条件下做到能用，并把收益量化出来。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我们站的位置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578608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WHERE WE STAND  ·  五列里最关键的是最后两列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11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1417320"/>
                <a:gridCol w="1691640"/>
                <a:gridCol w="278892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代表工作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平台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任务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感知自身可靠性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拿它做什么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TFLite Micro / CMSIS-NN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Cortex-M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分类、唤醒词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MLPerf Tiny 基准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各类 MCU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项基准任务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不做（只测精度/延迟/能耗）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DORY / MicroNets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MCU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分类、检测部署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TinyissimoYOLO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GAP9 / STM32H7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Deploy-SSD-ON-STM32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选择性分类（Geifman, 2017）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GPU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做：给出置信分数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TrustTiny-HAR（2026）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STM32L4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人体动作识别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做：校准 + OOD 分数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 / 上传云端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本项目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做：三档判定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触发定向复核 + 降级控制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468112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前六行证明「能跑」，我们不重复；后两行证明「知道自己不可靠」，但停在拒识、停在分类、没有闭环。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我们落在的格子是：检测任务 + 三档判定 + 真正驱动一个物理动作 + 在闭环里评价。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03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六个里程碑，每一级都有验收标准
卡不住的不硬上，卡住了就降级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六个里程碑，每级有验收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4590287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ROADMAP  ·  每一级不通过就不往下走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13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97280" y="1993392"/>
            <a:ext cx="10104120" cy="0"/>
          </a:xfrm>
          <a:prstGeom prst="line">
            <a:avLst/>
          </a:prstGeom>
          <a:ln w="30480">
            <a:solidFill>
              <a:srgbClr val="C6D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435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350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2026.11.30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26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选型与跑通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相机出图、Cube.AI 跑通一个官方模型、内存账算平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406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官方模型能在板上跑起来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302666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1810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2027.02.19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9572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2374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PC 端 INT8 量化，跑通后处理，标定精度损失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52374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2374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精度损失 &lt; 3 个点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0974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0118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880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2027.04.14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17880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0682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682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模型上板，静态内存划分，测首次端到端帧率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430682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0682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≥ 3 fps，内存不溢出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659282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188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2027.06.16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96188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990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8990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三档判定与触发式复核接入，实车跑通识别与避障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08990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8990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中期检查可演示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837590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6734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44967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2027.07.15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744967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72983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72983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帧间补位上线，数据补齐，写部署流程文档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7872983" y="3657600"/>
            <a:ext cx="1371601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72983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清单里的指标全部测满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01589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504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80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2027.08.15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5280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560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6560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整理源码、报告、数据表，投稿或提交专利申请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6560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560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结题材料齐全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566928" y="4773168"/>
            <a:ext cx="11064240" cy="87782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4773168"/>
            <a:ext cx="64008" cy="87782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4846320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卡点怎么处理（现在就写清楚，免得到时候硬撑）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41248" y="5138928"/>
            <a:ext cx="105613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2027.04.14 端侧跑不通 → 立刻砍掉创新点③，把资源压到①②，保住「能识别 + 能避障」这条底线；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2027.02.19 量化精度崩了 → 优先降输入分辨率（192→160）和减类别（3 类以内），不改网络结构。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为什么不买开发板而是核心板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5394959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HARDWARE  ·  选型的第一个约束是内存，不是主频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14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8" cy="31638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84811"/>
                <a:gridCol w="4119154"/>
                <a:gridCol w="957942"/>
                <a:gridCol w="450233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器件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型号与关键参数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预算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为什么是它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感知主控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STM32H743VIT6 核心板
2 MB Flash / 1 MB RAM / 480 MHz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192×192 检测模型要 330 KB Flash、174 KB 激活 RAM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摄像头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OV2640，DCMI 接口，200 万像素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支持 JPEG 输出，省 MCU 端编码开销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超声波 ×2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HC-SR04，2–400 cm，波束约 15°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波束窄，才能做「定向复核」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姿态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MPU6050，6 轴，I²C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帧间推演只需要陀螺，不需要磁力计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F103C8T6 + DRV8833 + 60 mm 麦轮（已有）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已随机器人竞赛搭好并验证过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645152"/>
            <a:ext cx="5413248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为什么不是 H750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6384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H750 只有 128 KB 内部 Flash，而 192×192 检测模型的权重就 277 KB，必须外挂 QSPI 并改启动链路。多花的钱不多，多踩的坑不少。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4645152"/>
            <a:ext cx="5413248" cy="120700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资源账（ST model zoo 实测口径）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37376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 INT8 检测模型：激活 RAM 166 KB + 运行时 8 KB = 174 KB；权重 277 KB + 代码 53 KB = 330 KB Flash。H743 的 1 MB / 2 MB 都留了一倍余量。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合计约 178 元，在 450 元材料费额度内；其余留给打印件、杜邦线和损耗替换。</a:t>
            </a:r>
            <a:endParaRPr sz="96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四个会疼的地方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RISKS  ·  先想好怎么退，才敢往前走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15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3063240"/>
                <a:gridCol w="5212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风险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什么时候能看出来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怎么办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量化后精度崩掉
mAP 掉一半以上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2027.02 量化预演阶段
PC 端就能看到逐层误差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先降输入分辨率（192→160），再减类别（≤3 类）；
仍不行就上量化感知训练，但那是备选不是首选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端侧帧率达不到 3 fps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2027.04 端侧推理阶段
首次跑通就能测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只对图像下半区 / ROI 推理；
或换成单阶段、无 NMS 的更小模型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四个置信度信号都没判别力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2027.05 三档模块单独测
画风险—覆盖率曲线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退回以帧间一致性为主；
创新点①降级为工程手段，答辩与论文里如实写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九个月做不完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每级里程碑的验收标准
不给过就不往下走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04.14 卡住就砍创新点③；
06.16 卡住就把「定向复核」降为「定时复核」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47488"/>
            <a:ext cx="110642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这几条不是走过场。尤其第三条——如果测出来这套判据没用，我们会把结论照实写进结题报告，而不是换一套说法圆回去。</a:t>
            </a:r>
            <a:endParaRPr sz="98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04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能拿出手的四样东西
以及两件现在就该说清楚的事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四样能拿出手的东西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DELIVERABLES  ·  以及两件现在就该说清楚的事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17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实物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一台能演示的车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现有底盘 + H743 感知板，现场演示识别、避障，以及「不可信时降速复核」这一整套动作。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0156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源码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0273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一套可复现的仓库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0273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量化脚本、Cube.AI 工程、三档判定、帧间补位、测试数据与复现说明。目标是别人照着能跑出来。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620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数据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3737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一张实测数据表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3737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精度、帧率、内存、触发率、误动作率，以及满负荷推理下的功耗—温升—帧率包线。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07084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0848" y="1444752"/>
            <a:ext cx="2670048" cy="45720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文字</a:t>
            </a:r>
            <a:endParaRPr sz="10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27201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论文与专利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7201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中文期刊或会议论文 1 篇（目标）；发明专利申请 1 项，重点写「触发式定向复核」那条。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6928" y="3602736"/>
            <a:ext cx="11064240" cy="1170432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602736"/>
            <a:ext cx="64008" cy="1170432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675887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6010"/>
                </a:solidFill>
                <a:latin typeface="微软雅黑" panose="020B0503020204020204" charset="-122"/>
                <a:ea typeface="微软雅黑" panose="020B0503020204020204" charset="-122"/>
              </a:rPr>
              <a:t>两件现在就该说清楚的事</a:t>
            </a:r>
            <a:endParaRPr sz="1050" b="1">
              <a:solidFill>
                <a:srgbClr val="8A601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1248" y="3968496"/>
            <a:ext cx="105613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发明专利从申请到授权通常要 18–30 个月，九个月内我们最多拿到受理通知书，结题时不会说「专利已经授权」。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论文目标是中文期刊或本科生学术会议，不承诺 EI/SCI——按我们的时间和能力，这个预期才是诚实的。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495604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一句话总结交付：不是「一个能识别东西的小车」，是「一套在 4 fps 上还不出事的感知做法，连同它失败的可能」。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05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团队与分工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四个人，四个专业，各自有真正能落地的活
没有人只挂名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谁干什么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TEAM  ·  四个人四块，都对着自己的专业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19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5889"/>
                <a:gridCol w="1371209"/>
                <a:gridCol w="4302760"/>
                <a:gridCol w="340438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成员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专业方向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负责模块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交付物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陶家宇（队长）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系统架构、Cube.AI 部署链路、三档判定模块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全链路打通；论文主笔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李海洋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数据集构建、训练与量化实验、PC 端工具链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数据集、量化对照表、精度报告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徐熠冉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能源动力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电源与功耗、热稳态实测、续航与电池压降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功耗—温升—帧率包线数据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王紫怡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电机驱动、编码器与 IMU 采集、板级硬件与联调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底盘联调、硬件原理说明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刘  寄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指导教师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方向把关、工具链答疑、论文与专利指导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61104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进度（与系统内已提交的里程碑一致）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2960" y="4590288"/>
            <a:ext cx="1463040" cy="54864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调研选型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11.30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78608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02.19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34256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04.14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89904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06.16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845552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07.15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01200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08.15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66928" y="5321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分工的原则是：每个人手里都有一份能独立验收、能写进报告的东西。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尤其功耗—温升这一块不是「顺便测一下」——满负荷推理会让 H7 发热降频、18650 掉压复位，这条包线直接决定车能连续跑多久。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参考文献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REFERENCES 1/2  ·  模型、部署与量化基础  ·  原文已归档在「参考文献原文」文件夹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20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Lai L, Suda N, Chandra V. CMSIS-NN: Efficient Neural Network Kernels for Arm Cortex-M CPUs[EB/OL]. arXiv:1801.06601, 2018.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Reddi V J, Torelli P, et al. MLPerf Tiny Benchmark[C]//NeurIPS Datasets and Benchmarks Track,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[3]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611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Burrello A, Garofalo A, Bruschi N, et al. DORY: Automatic End-to-End Deployment of Real-World DNNs on Low-Cost IoT MCUs[J]. IEEE Trans. on Computers, 2021. doi:10.1109/TC.2021.3066883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[4]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9611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Moosmann J, Müller H, Zimmerman N, et al. Flexible and Fully Quantized Lightweight TinyissimoYOLO for Ultra-Low-Power Edge Systems[J]. IEEE Access, 2024. doi:10.1109/ACCESS.2024.3404878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[5]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611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Lin J, Zhu L, Chen W M, et al. Machine Learning for Microcontroller-Class Hardware: A Review[J]. IEEE Sensors Journal, 2022. arXiv:2205.14550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[6]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Zhou C, Fedorov I, et al. MicroNets: Neural Network Architectures for Deploying TinyML Applications on Commodity Microcontrollers[C]//MLSys,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3620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[7]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6539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David R, Duke J, Jain A, et al. TensorFlow Lite Micro: Embedded Machine Learning on TinyML Systems[C]//MLSys,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3620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[8]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6539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Jacob B, Kligys S, Chen B, et al. Quantization and Training of Neural Networks for Efficient Integer-Arithmetic-Only Inference[C]//CVPR, 2018: 2704-2713.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3620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[9]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6539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Redmon J, Farhadi A. YOLOv3: An Incremental Improvement[EB/OL]. arXiv:1804.02767, 2018.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3620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[10]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539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Lin T Y, Goyal P, Girshick R, et al. Focal Loss for Dense Object Detection[C]//ICCV, 2017: 2980-2988.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3620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6539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马官正. 面向嵌入式设备的轻量级目标检测算法综述[J]. 无线互联科技, 2026(12).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3620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6539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邓  览. 基于深度学习的轻量化目标检测模型综述[J]. 信息技术与信息化, 2026(6): 170-173.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开源与官方资料：STMicroelectronics/stm32ai-modelzoo · RangiLyu/nanodet · Flora233333/Deploy-SSD-ON-STM32 · ST Wiki「STM32Cube.AI model performances」</a:t>
            </a:r>
            <a:endParaRPr sz="8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703512" y="4869160"/>
            <a:ext cx="8659688" cy="1001454"/>
            <a:chOff x="1703512" y="4869160"/>
            <a:chExt cx="8659688" cy="1001454"/>
          </a:xfrm>
        </p:grpSpPr>
        <p:grpSp>
          <p:nvGrpSpPr>
            <p:cNvPr id="9" name="组合 8"/>
            <p:cNvGrpSpPr/>
            <p:nvPr/>
          </p:nvGrpSpPr>
          <p:grpSpPr>
            <a:xfrm>
              <a:off x="3832857" y="5041679"/>
              <a:ext cx="4526280" cy="828935"/>
              <a:chOff x="3832857" y="5247314"/>
              <a:chExt cx="4526280" cy="828935"/>
            </a:xfrm>
          </p:grpSpPr>
          <p:sp>
            <p:nvSpPr>
              <p:cNvPr id="16" name="文本框 18"/>
              <p:cNvSpPr txBox="1">
                <a:spLocks noChangeArrowheads="1"/>
              </p:cNvSpPr>
              <p:nvPr/>
            </p:nvSpPr>
            <p:spPr bwMode="auto">
              <a:xfrm>
                <a:off x="5067509" y="5676139"/>
                <a:ext cx="2056974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指导老师：刘  寄</a:t>
                </a:r>
                <a:endPara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7" name="文本框 16"/>
              <p:cNvSpPr txBox="1">
                <a:spLocks noChangeArrowheads="1"/>
              </p:cNvSpPr>
              <p:nvPr/>
            </p:nvSpPr>
            <p:spPr bwMode="auto">
              <a:xfrm>
                <a:off x="3832857" y="5247314"/>
                <a:ext cx="4526280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答辩人：</a:t>
                </a:r>
                <a:r>
                  <a:rPr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陶家宇</a:t>
                </a:r>
                <a:r>
                  <a:rPr lang="zh-CN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，王紫怡，李海洋，徐熠冉</a:t>
                </a:r>
                <a:endParaRPr sz="18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540" y="1067195"/>
            <a:ext cx="3846786" cy="1145649"/>
          </a:xfrm>
          <a:prstGeom prst="rect">
            <a:avLst/>
          </a:prstGeom>
        </p:spPr>
      </p:pic>
      <p:sp>
        <p:nvSpPr>
          <p:cNvPr id="13" name="Rectangle 15"/>
          <p:cNvSpPr>
            <a:spLocks noChangeArrowheads="1"/>
          </p:cNvSpPr>
          <p:nvPr/>
        </p:nvSpPr>
        <p:spPr bwMode="auto">
          <a:xfrm>
            <a:off x="311607" y="2829519"/>
            <a:ext cx="11568608" cy="1322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8000" b="1" i="1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敬请各位专家批评指正</a:t>
            </a:r>
            <a:endParaRPr kumimoji="0" lang="zh-CN" altLang="en-US" sz="8000" b="1" i="1" u="none" strike="noStrike" kern="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参考文献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Sub5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REFERENCES 2/2  ·  可信度判定、拒识与不确定性相关工作  ·  原文已归档在「参考文献原文」文件夹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Num40"/>
          <p:cNvSpPr txBox="1"/>
          <p:nvPr/>
        </p:nvSpPr>
        <p:spPr>
          <a:xfrm>
            <a:off x="56692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[13]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f41"/>
          <p:cNvSpPr txBox="1"/>
          <p:nvPr/>
        </p:nvSpPr>
        <p:spPr>
          <a:xfrm>
            <a:off x="89611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Guo C, Pleiss G, Sun Y, et al. On Calibration of Modern Neural Networks[C]//ICML, 2017: 1321-1330.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Num42"/>
          <p:cNvSpPr txBox="1"/>
          <p:nvPr/>
        </p:nvSpPr>
        <p:spPr>
          <a:xfrm>
            <a:off x="56692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[14]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f43"/>
          <p:cNvSpPr txBox="1"/>
          <p:nvPr/>
        </p:nvSpPr>
        <p:spPr>
          <a:xfrm>
            <a:off x="89611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Geifman Y, El-Yaniv R. Selective Classification for Deep Neural Networks[C]//NeurIPS, 2017.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Num44"/>
          <p:cNvSpPr txBox="1"/>
          <p:nvPr/>
        </p:nvSpPr>
        <p:spPr>
          <a:xfrm>
            <a:off x="56692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[15]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f45"/>
          <p:cNvSpPr txBox="1"/>
          <p:nvPr/>
        </p:nvSpPr>
        <p:spPr>
          <a:xfrm>
            <a:off x="89611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Gal Y, Ghahramani Z. Dropout as a Bayesian Approximation: Representing Model Uncertainty in Deep Learning[C]//ICML, 2016: 1050-1059.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Num46"/>
          <p:cNvSpPr txBox="1"/>
          <p:nvPr/>
        </p:nvSpPr>
        <p:spPr>
          <a:xfrm>
            <a:off x="56692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[16]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f47"/>
          <p:cNvSpPr txBox="1"/>
          <p:nvPr/>
        </p:nvSpPr>
        <p:spPr>
          <a:xfrm>
            <a:off x="89611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Lakshminarayanan B, Pritzel A, Blundell C. Simple and Scalable Predictive Uncertainty Estimation using Deep Ensembles[C]//NeurIPS, 2017.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Num48"/>
          <p:cNvSpPr txBox="1"/>
          <p:nvPr/>
        </p:nvSpPr>
        <p:spPr>
          <a:xfrm>
            <a:off x="56692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[17]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f49"/>
          <p:cNvSpPr txBox="1"/>
          <p:nvPr/>
        </p:nvSpPr>
        <p:spPr>
          <a:xfrm>
            <a:off x="89611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Hendrycks D, Gimpel K. A Baseline for Detecting Misclassified and Out-of-Distribution Examples in Neural Networks[C]//ICLR, 2017.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Num50"/>
          <p:cNvSpPr txBox="1"/>
          <p:nvPr/>
        </p:nvSpPr>
        <p:spPr>
          <a:xfrm>
            <a:off x="623620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[18]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f51"/>
          <p:cNvSpPr txBox="1"/>
          <p:nvPr/>
        </p:nvSpPr>
        <p:spPr>
          <a:xfrm>
            <a:off x="656539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Hall D, Dayoub F, Skinner J, et al. Probabilistic Object Detection: Definition and Evaluation[C]//WACV, 2020: 1031-1040.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Num52"/>
          <p:cNvSpPr txBox="1"/>
          <p:nvPr/>
        </p:nvSpPr>
        <p:spPr>
          <a:xfrm>
            <a:off x="623620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[19]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ef53"/>
          <p:cNvSpPr txBox="1"/>
          <p:nvPr/>
        </p:nvSpPr>
        <p:spPr>
          <a:xfrm>
            <a:off x="656539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Ghanathe N P, Wilton S J E. QUTE: Quantifying Uncertainty in TinyML Models with Early-exit-assisted Ensembles for Model-Monitoring[C]//ICML, PMLR 267, 2025: 19286-19306.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Num54"/>
          <p:cNvSpPr txBox="1"/>
          <p:nvPr/>
        </p:nvSpPr>
        <p:spPr>
          <a:xfrm>
            <a:off x="623620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[20]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f55"/>
          <p:cNvSpPr txBox="1"/>
          <p:nvPr/>
        </p:nvSpPr>
        <p:spPr>
          <a:xfrm>
            <a:off x="656539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Budjač R, Valášek M, Belány P, et al. Runtime Monitoring and Correction of INT8 Quantized Models Under Distribution Shift[C]//LNNS 2227. Springer, 2026: 335-346.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Num56"/>
          <p:cNvSpPr txBox="1"/>
          <p:nvPr/>
        </p:nvSpPr>
        <p:spPr>
          <a:xfrm>
            <a:off x="623620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Ref57"/>
          <p:cNvSpPr txBox="1"/>
          <p:nvPr/>
        </p:nvSpPr>
        <p:spPr>
          <a:xfrm>
            <a:off x="656539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Krishnamoorthi R. Quantizing Deep Convolutional Networks for Efficient Inference: A Whitepaper[EB/OL]. arXiv:1806.08342, 2018.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Num58"/>
          <p:cNvSpPr txBox="1"/>
          <p:nvPr/>
        </p:nvSpPr>
        <p:spPr>
          <a:xfrm>
            <a:off x="623620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Ref59"/>
          <p:cNvSpPr txBox="1"/>
          <p:nvPr/>
        </p:nvSpPr>
        <p:spPr>
          <a:xfrm>
            <a:off x="656539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Lin T Y, Maire M, Belongie S, et al. Microsoft COCO: Common Objects in Context[C]//ECCV, 2014: 740-755.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Note60"/>
          <p:cNvSpPr txBox="1"/>
          <p:nvPr/>
        </p:nvSpPr>
        <p:spPr>
          <a:xfrm>
            <a:off x="566928" y="56900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说明：[19] 用额外结构做轻量集成估不确定性，[20] 读 INT8 裁剪比例修正模型；本项目读同一计数、只投否决票，不重算、不改量化参数。</a:t>
            </a:r>
            <a:endParaRPr sz="8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Pg61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21 / 22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7477</Words>
  <Application>WPS 演示</Application>
  <PresentationFormat>宽屏</PresentationFormat>
  <Paragraphs>785</Paragraphs>
  <Slides>21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5" baseType="lpstr">
      <vt:lpstr>Arial</vt:lpstr>
      <vt:lpstr>宋体</vt:lpstr>
      <vt:lpstr>Wingdings</vt:lpstr>
      <vt:lpstr>华文行楷</vt:lpstr>
      <vt:lpstr>Calibri</vt:lpstr>
      <vt:lpstr>Calibri</vt:lpstr>
      <vt:lpstr>微软雅黑</vt:lpstr>
      <vt:lpstr>Arial</vt:lpstr>
      <vt:lpstr>Calibri Light</vt:lpstr>
      <vt:lpstr>方正宋刻本秀楷简体</vt:lpstr>
      <vt:lpstr>Arial Black</vt:lpstr>
      <vt:lpstr>Arial Unicode MS</vt:lpstr>
      <vt:lpstr>等线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Peach</cp:lastModifiedBy>
  <cp:revision>40</cp:revision>
  <dcterms:created xsi:type="dcterms:W3CDTF">2020-07-27T06:27:00Z</dcterms:created>
  <dcterms:modified xsi:type="dcterms:W3CDTF">2026-10-20T04:45:59Z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AF0C876435AC4DEF8E05010F1BA5F0D6_13</vt:lpwstr>
  </property>
  <property fmtid="{D5CDD505-2E9C-101B-9397-08002B2CF9AE}" pid="3" name="KSOProductBuildVer">
    <vt:lpwstr>2052-12.1.0.29161</vt:lpwstr>
  </property>
</Properties>
</file>